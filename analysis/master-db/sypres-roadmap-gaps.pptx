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is built and the template basically works. This deck shows the figures we're building toward, then the four small extraction gaps to close before we extract hundreds of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stat callouts show pilot scale. Left: what already works. Right: the decision point — lock the template before bulk 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targets, not results. Several figures are already at full scale (they need no extraction); the extraction-derived ones are 16-study previews of what's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PRISMA is the process figure — how the corpus was assembled. The point for the team: the funnel is complete and reconciles.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Needs only year + drug, so it already covers every included paper — no extraction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signature figure of a systematic map. Bubble = distinct trials, fill = participants. The gaps are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Quantifies the papers-vs-trials gap, including for unregistered trials via source-paper DOIs. The most novel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Domains, not instruments. 15 distinct domain combinations across 16 verified studies, 14 unique to one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D is the honest attrition panel: computable for only 6 of 16. Gap 2 (a “not reported” option) fixes the ambiguity.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Panels B and C are registry-sourced and cover only registered trials — the half Gap 3 fills for the rest of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Geography from the registry; population split from extraction. Age / % female (Gap 4) would add a representativeness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Prospective-vs-retrospective and results-posted come free from the registry. Outcome switching was cut — not meaningful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negative-space figure — the finding is the absence. Expectancy is an available option recorded for zero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where the four gaps live. Phases 2 and 3 are the path after the template is 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gap now names the figure it completes. Gaps 1 and 2 are near-free; gap 3 is the substantive one; gap 4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essentially free and each recovers a real analysis. Recommend approving both for the template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gap with real design content: record who was masked, not a single/double/open label — the level is recoverable by counting and matches how the registry stores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decisions. The right-hand block is the timing argument — cheap now, a retrospective pass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1C"/>
        </a:solidFill>
      </p:bgPr>
    </p:bg>
    <p:spTree>
      <p:nvGrpSpPr>
        <p:cNvPr id="1" name=""/>
        <p:cNvGrpSpPr/>
        <p:nvPr/>
      </p:nvGrpSpPr>
      <p:grpSpPr>
        <a:xfrm>
          <a:off x="0" y="0"/>
          <a:ext cx="0" cy="0"/>
          <a:chOff x="0" y="0"/>
          <a:chExt cx="0" cy="0"/>
        </a:xfrm>
      </p:grpSpPr>
      <p:sp>
        <p:nvSpPr>
          <p:cNvPr id="2" name="Shape 0"/>
          <p:cNvSpPr/>
          <p:nvPr/>
        </p:nvSpPr>
        <p:spPr>
          <a:xfrm>
            <a:off x="10972800" y="594360"/>
            <a:ext cx="822960" cy="822960"/>
          </a:xfrm>
          <a:prstGeom prst="ellipse">
            <a:avLst/>
          </a:prstGeom>
          <a:solidFill>
            <a:srgbClr val="0E6E63"/>
          </a:solidFill>
          <a:ln/>
        </p:spPr>
      </p:sp>
      <p:sp>
        <p:nvSpPr>
          <p:cNvPr id="3" name="Shape 1"/>
          <p:cNvSpPr/>
          <p:nvPr/>
        </p:nvSpPr>
        <p:spPr>
          <a:xfrm>
            <a:off x="11567160" y="1325880"/>
            <a:ext cx="457200" cy="457200"/>
          </a:xfrm>
          <a:prstGeom prst="ellipse">
            <a:avLst/>
          </a:prstGeom>
          <a:solidFill>
            <a:srgbClr val="1BAF7A"/>
          </a:solidFill>
          <a:ln/>
        </p:spPr>
      </p:sp>
      <p:sp>
        <p:nvSpPr>
          <p:cNvPr id="4" name="Shape 2"/>
          <p:cNvSpPr/>
          <p:nvPr/>
        </p:nvSpPr>
        <p:spPr>
          <a:xfrm>
            <a:off x="10607040" y="1554480"/>
            <a:ext cx="365760" cy="365760"/>
          </a:xfrm>
          <a:prstGeom prst="ellipse">
            <a:avLst/>
          </a:prstGeom>
          <a:solidFill>
            <a:srgbClr val="1B332C"/>
          </a:solidFill>
          <a:ln/>
        </p:spPr>
      </p:sp>
      <p:sp>
        <p:nvSpPr>
          <p:cNvPr id="5" name="Text 3"/>
          <p:cNvSpPr txBox="1"/>
          <p:nvPr/>
        </p:nvSpPr>
        <p:spPr>
          <a:xfrm>
            <a:off x="640080" y="1417320"/>
            <a:ext cx="10058400" cy="274320"/>
          </a:xfrm>
          <a:prstGeom prst="rect">
            <a:avLst/>
          </a:prstGeom>
          <a:noFill/>
          <a:ln/>
        </p:spPr>
        <p:txBody>
          <a:bodyPr wrap="square" lIns="0" tIns="0" rIns="0" bIns="0" rtlCol="0" anchor="ctr"/>
          <a:lstStyle/>
          <a:p>
            <a:pPr indent="0" marL="0">
              <a:buNone/>
            </a:pPr>
            <a:r>
              <a:rPr lang="en-US" sz="1100" b="1" spc="220" kern="0" dirty="0">
                <a:solidFill>
                  <a:srgbClr val="1BAF7A"/>
                </a:solidFill>
                <a:latin typeface="Calibri" pitchFamily="34" charset="0"/>
                <a:ea typeface="Calibri" pitchFamily="34" charset="-122"/>
                <a:cs typeface="Calibri" pitchFamily="34" charset="-120"/>
              </a:rPr>
              <a:t>SYPRES  ·  MASTER DATABASE</a:t>
            </a:r>
            <a:endParaRPr lang="en-US" sz="1100" dirty="0"/>
          </a:p>
        </p:txBody>
      </p:sp>
      <p:sp>
        <p:nvSpPr>
          <p:cNvPr id="6" name="Text 4"/>
          <p:cNvSpPr txBox="1"/>
          <p:nvPr/>
        </p:nvSpPr>
        <p:spPr>
          <a:xfrm>
            <a:off x="594360" y="1828800"/>
            <a:ext cx="10241280" cy="201168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The psychedelic RCT map:</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what we're targeting</a:t>
            </a:r>
            <a:endParaRPr lang="en-US" sz="4600" dirty="0"/>
          </a:p>
        </p:txBody>
      </p:sp>
      <p:sp>
        <p:nvSpPr>
          <p:cNvPr id="7" name="Text 5"/>
          <p:cNvSpPr txBox="1"/>
          <p:nvPr/>
        </p:nvSpPr>
        <p:spPr>
          <a:xfrm>
            <a:off x="640080" y="3977640"/>
            <a:ext cx="10424160" cy="1188720"/>
          </a:xfrm>
          <a:prstGeom prst="rect">
            <a:avLst/>
          </a:prstGeom>
          <a:noFill/>
          <a:ln/>
        </p:spPr>
        <p:txBody>
          <a:bodyPr wrap="square" lIns="0" tIns="0" rIns="0" bIns="0" rtlCol="0" anchor="ctr"/>
          <a:lstStyle/>
          <a:p>
            <a:pPr indent="0" marL="0">
              <a:lnSpc>
                <a:spcPct val="115000"/>
              </a:lnSpc>
              <a:buNone/>
            </a:pPr>
            <a:r>
              <a:rPr lang="en-US" sz="1600" dirty="0">
                <a:solidFill>
                  <a:srgbClr val="9DB0A9"/>
                </a:solidFill>
                <a:latin typeface="Calibri" pitchFamily="34" charset="0"/>
                <a:ea typeface="Calibri" pitchFamily="34" charset="-122"/>
                <a:cs typeface="Calibri" pitchFamily="34" charset="-120"/>
              </a:rPr>
              <a:t>An open, searchable database of every randomized controlled trial that has administered</a:t>
            </a:r>
            <a:endParaRPr lang="en-US" sz="1600" dirty="0"/>
          </a:p>
          <a:p>
            <a:pPr indent="0" marL="0">
              <a:lnSpc>
                <a:spcPct val="115000"/>
              </a:lnSpc>
              <a:buNone/>
            </a:pPr>
            <a:r>
              <a:rPr lang="en-US" sz="1600" dirty="0">
                <a:solidFill>
                  <a:srgbClr val="9DB0A9"/>
                </a:solidFill>
                <a:latin typeface="Calibri" pitchFamily="34" charset="0"/>
                <a:ea typeface="Calibri" pitchFamily="34" charset="-122"/>
                <a:cs typeface="Calibri" pitchFamily="34" charset="-120"/>
              </a:rPr>
              <a:t>a psychedelic drug — the figures we're building toward, and the small template decisions</a:t>
            </a:r>
            <a:endParaRPr lang="en-US" sz="1600" dirty="0"/>
          </a:p>
          <a:p>
            <a:pPr indent="0" marL="0">
              <a:lnSpc>
                <a:spcPct val="115000"/>
              </a:lnSpc>
              <a:buNone/>
            </a:pPr>
            <a:r>
              <a:rPr lang="en-US" sz="1600" dirty="0">
                <a:solidFill>
                  <a:srgbClr val="9DB0A9"/>
                </a:solidFill>
                <a:latin typeface="Calibri" pitchFamily="34" charset="0"/>
                <a:ea typeface="Calibri" pitchFamily="34" charset="-122"/>
                <a:cs typeface="Calibri" pitchFamily="34" charset="-120"/>
              </a:rPr>
              <a:t>to lock in before extraction scales.</a:t>
            </a:r>
            <a:endParaRPr lang="en-US" sz="1600" dirty="0"/>
          </a:p>
        </p:txBody>
      </p:sp>
      <p:sp>
        <p:nvSpPr>
          <p:cNvPr id="8" name="Text 6"/>
          <p:cNvSpPr txBox="1"/>
          <p:nvPr/>
        </p:nvSpPr>
        <p:spPr>
          <a:xfrm>
            <a:off x="640080" y="5989320"/>
            <a:ext cx="5486400" cy="320040"/>
          </a:xfrm>
          <a:prstGeom prst="rect">
            <a:avLst/>
          </a:prstGeom>
          <a:noFill/>
          <a:ln/>
        </p:spPr>
        <p:txBody>
          <a:bodyPr wrap="square" lIns="0" tIns="0" rIns="0" bIns="0" rtlCol="0" anchor="ctr"/>
          <a:lstStyle/>
          <a:p>
            <a:pPr indent="0" marL="0">
              <a:buNone/>
            </a:pPr>
            <a:r>
              <a:rPr lang="en-US" sz="1200" b="1" dirty="0">
                <a:solidFill>
                  <a:srgbClr val="1BAF7A"/>
                </a:solidFill>
                <a:latin typeface="Calibri" pitchFamily="34" charset="0"/>
                <a:ea typeface="Calibri" pitchFamily="34" charset="-122"/>
                <a:cs typeface="Calibri" pitchFamily="34" charset="-120"/>
              </a:rPr>
              <a:t>Team briefing</a:t>
            </a:r>
            <a:endParaRPr lang="en-US" sz="1200" dirty="0"/>
          </a:p>
        </p:txBody>
      </p:sp>
      <p:sp>
        <p:nvSpPr>
          <p:cNvPr id="9" name="Text 7"/>
          <p:cNvSpPr txBox="1"/>
          <p:nvPr/>
        </p:nvSpPr>
        <p:spPr>
          <a:xfrm>
            <a:off x="5486400" y="5989320"/>
            <a:ext cx="6035040" cy="320040"/>
          </a:xfrm>
          <a:prstGeom prst="rect">
            <a:avLst/>
          </a:prstGeom>
          <a:noFill/>
          <a:ln/>
        </p:spPr>
        <p:txBody>
          <a:bodyPr wrap="square" lIns="0" tIns="0" rIns="0" bIns="0" rtlCol="0" anchor="ctr"/>
          <a:lstStyle/>
          <a:p>
            <a:pPr algn="r" indent="0" marL="0">
              <a:buNone/>
            </a:pPr>
            <a:r>
              <a:rPr lang="en-US" sz="1200" dirty="0">
                <a:solidFill>
                  <a:srgbClr val="9DB0A9"/>
                </a:solidFill>
                <a:latin typeface="Calibri" pitchFamily="34" charset="0"/>
                <a:ea typeface="Calibri" pitchFamily="34" charset="-122"/>
                <a:cs typeface="Calibri" pitchFamily="34" charset="-120"/>
              </a:rPr>
              <a:t>Pilot: 95 papers included · 16 verified extractions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STATUS</a:t>
            </a:r>
            <a:endParaRPr lang="en-US" sz="1100" dirty="0"/>
          </a:p>
        </p:txBody>
      </p:sp>
      <p:sp>
        <p:nvSpPr>
          <p:cNvPr id="3" name="Text 1"/>
          <p:cNvSpPr txBox="1"/>
          <p:nvPr/>
        </p:nvSpPr>
        <p:spPr>
          <a:xfrm>
            <a:off x="502920" y="749808"/>
            <a:ext cx="9144000" cy="640080"/>
          </a:xfrm>
          <a:prstGeom prst="rect">
            <a:avLst/>
          </a:prstGeom>
          <a:noFill/>
          <a:ln/>
        </p:spPr>
        <p:txBody>
          <a:bodyPr wrap="square" lIns="0" tIns="0" rIns="0" bIns="0" rtlCol="0" anchor="ctr"/>
          <a:lstStyle/>
          <a:p>
            <a:pPr indent="0" marL="0">
              <a:buNone/>
            </a:pPr>
            <a:r>
              <a:rPr lang="en-US" sz="3400" b="1" dirty="0">
                <a:solidFill>
                  <a:srgbClr val="13211D"/>
                </a:solidFill>
                <a:latin typeface="Cambria" pitchFamily="34" charset="0"/>
                <a:ea typeface="Cambria" pitchFamily="34" charset="-122"/>
                <a:cs typeface="Cambria" pitchFamily="34" charset="-120"/>
              </a:rPr>
              <a:t>Where the pilot stands</a:t>
            </a:r>
            <a:endParaRPr lang="en-US" sz="3400" dirty="0"/>
          </a:p>
        </p:txBody>
      </p:sp>
      <p:sp>
        <p:nvSpPr>
          <p:cNvPr id="4" name="Shape 2"/>
          <p:cNvSpPr/>
          <p:nvPr/>
        </p:nvSpPr>
        <p:spPr>
          <a:xfrm>
            <a:off x="502920" y="1600200"/>
            <a:ext cx="2724912" cy="1691640"/>
          </a:xfrm>
          <a:prstGeom prst="roundRect">
            <a:avLst>
              <a:gd name="adj" fmla="val 4865"/>
            </a:avLst>
          </a:prstGeom>
          <a:solidFill>
            <a:srgbClr val="EDF3F1"/>
          </a:solidFill>
          <a:ln/>
        </p:spPr>
      </p:sp>
      <p:sp>
        <p:nvSpPr>
          <p:cNvPr id="5" name="Text 3"/>
          <p:cNvSpPr txBox="1"/>
          <p:nvPr/>
        </p:nvSpPr>
        <p:spPr>
          <a:xfrm>
            <a:off x="548640" y="1737360"/>
            <a:ext cx="2633472" cy="868680"/>
          </a:xfrm>
          <a:prstGeom prst="rect">
            <a:avLst/>
          </a:prstGeom>
          <a:noFill/>
          <a:ln/>
        </p:spPr>
        <p:txBody>
          <a:bodyPr wrap="square" lIns="0" tIns="0" rIns="0" bIns="0" rtlCol="0" anchor="ctr"/>
          <a:lstStyle/>
          <a:p>
            <a:pPr algn="ctr" indent="0" marL="0">
              <a:buNone/>
            </a:pPr>
            <a:r>
              <a:rPr lang="en-US" sz="5200" b="1" dirty="0">
                <a:solidFill>
                  <a:srgbClr val="0E6E63"/>
                </a:solidFill>
                <a:latin typeface="Cambria" pitchFamily="34" charset="0"/>
                <a:ea typeface="Cambria" pitchFamily="34" charset="-122"/>
                <a:cs typeface="Cambria" pitchFamily="34" charset="-120"/>
              </a:rPr>
              <a:t>95</a:t>
            </a:r>
            <a:endParaRPr lang="en-US" sz="5200" dirty="0"/>
          </a:p>
        </p:txBody>
      </p:sp>
      <p:sp>
        <p:nvSpPr>
          <p:cNvPr id="6" name="Text 4"/>
          <p:cNvSpPr txBox="1"/>
          <p:nvPr/>
        </p:nvSpPr>
        <p:spPr>
          <a:xfrm>
            <a:off x="640080" y="2670048"/>
            <a:ext cx="2450592" cy="548640"/>
          </a:xfrm>
          <a:prstGeom prst="rect">
            <a:avLst/>
          </a:prstGeom>
          <a:noFill/>
          <a:ln/>
        </p:spPr>
        <p:txBody>
          <a:bodyPr wrap="square" lIns="0" tIns="0" rIns="0" bIns="0" rtlCol="0" anchor="ctr"/>
          <a:lstStyle/>
          <a:p>
            <a:pPr algn="ctr" indent="0" marL="0">
              <a:buNone/>
            </a:pPr>
            <a:r>
              <a:rPr lang="en-US" sz="1250" dirty="0">
                <a:solidFill>
                  <a:srgbClr val="51625D"/>
                </a:solidFill>
                <a:latin typeface="Calibri" pitchFamily="34" charset="0"/>
                <a:ea typeface="Calibri" pitchFamily="34" charset="-122"/>
                <a:cs typeface="Calibri" pitchFamily="34" charset="-120"/>
              </a:rPr>
              <a:t>papers included</a:t>
            </a:r>
            <a:endParaRPr lang="en-US" sz="1250" dirty="0"/>
          </a:p>
        </p:txBody>
      </p:sp>
      <p:sp>
        <p:nvSpPr>
          <p:cNvPr id="7" name="Shape 5"/>
          <p:cNvSpPr/>
          <p:nvPr/>
        </p:nvSpPr>
        <p:spPr>
          <a:xfrm>
            <a:off x="3328416" y="1600200"/>
            <a:ext cx="2724912" cy="1691640"/>
          </a:xfrm>
          <a:prstGeom prst="roundRect">
            <a:avLst>
              <a:gd name="adj" fmla="val 4865"/>
            </a:avLst>
          </a:prstGeom>
          <a:solidFill>
            <a:srgbClr val="EDF3F1"/>
          </a:solidFill>
          <a:ln/>
        </p:spPr>
      </p:sp>
      <p:sp>
        <p:nvSpPr>
          <p:cNvPr id="8" name="Text 6"/>
          <p:cNvSpPr txBox="1"/>
          <p:nvPr/>
        </p:nvSpPr>
        <p:spPr>
          <a:xfrm>
            <a:off x="3374136" y="1737360"/>
            <a:ext cx="2633472" cy="868680"/>
          </a:xfrm>
          <a:prstGeom prst="rect">
            <a:avLst/>
          </a:prstGeom>
          <a:noFill/>
          <a:ln/>
        </p:spPr>
        <p:txBody>
          <a:bodyPr wrap="square" lIns="0" tIns="0" rIns="0" bIns="0" rtlCol="0" anchor="ctr"/>
          <a:lstStyle/>
          <a:p>
            <a:pPr algn="ctr" indent="0" marL="0">
              <a:buNone/>
            </a:pPr>
            <a:r>
              <a:rPr lang="en-US" sz="5200" b="1" dirty="0">
                <a:solidFill>
                  <a:srgbClr val="2A78D6"/>
                </a:solidFill>
                <a:latin typeface="Cambria" pitchFamily="34" charset="0"/>
                <a:ea typeface="Cambria" pitchFamily="34" charset="-122"/>
                <a:cs typeface="Cambria" pitchFamily="34" charset="-120"/>
              </a:rPr>
              <a:t>45</a:t>
            </a:r>
            <a:endParaRPr lang="en-US" sz="5200" dirty="0"/>
          </a:p>
        </p:txBody>
      </p:sp>
      <p:sp>
        <p:nvSpPr>
          <p:cNvPr id="9" name="Text 7"/>
          <p:cNvSpPr txBox="1"/>
          <p:nvPr/>
        </p:nvSpPr>
        <p:spPr>
          <a:xfrm>
            <a:off x="3465576" y="2670048"/>
            <a:ext cx="2450592" cy="548640"/>
          </a:xfrm>
          <a:prstGeom prst="rect">
            <a:avLst/>
          </a:prstGeom>
          <a:noFill/>
          <a:ln/>
        </p:spPr>
        <p:txBody>
          <a:bodyPr wrap="square" lIns="0" tIns="0" rIns="0" bIns="0" rtlCol="0" anchor="ctr"/>
          <a:lstStyle/>
          <a:p>
            <a:pPr algn="ctr" indent="0" marL="0">
              <a:buNone/>
            </a:pPr>
            <a:r>
              <a:rPr lang="en-US" sz="1250" dirty="0">
                <a:solidFill>
                  <a:srgbClr val="51625D"/>
                </a:solidFill>
                <a:latin typeface="Calibri" pitchFamily="34" charset="0"/>
                <a:ea typeface="Calibri" pitchFamily="34" charset="-122"/>
                <a:cs typeface="Calibri" pitchFamily="34" charset="-120"/>
              </a:rPr>
              <a:t>have an extraction</a:t>
            </a:r>
            <a:endParaRPr lang="en-US" sz="1250" dirty="0"/>
          </a:p>
        </p:txBody>
      </p:sp>
      <p:sp>
        <p:nvSpPr>
          <p:cNvPr id="10" name="Shape 8"/>
          <p:cNvSpPr/>
          <p:nvPr/>
        </p:nvSpPr>
        <p:spPr>
          <a:xfrm>
            <a:off x="6153912" y="1600200"/>
            <a:ext cx="2724912" cy="1691640"/>
          </a:xfrm>
          <a:prstGeom prst="roundRect">
            <a:avLst>
              <a:gd name="adj" fmla="val 4865"/>
            </a:avLst>
          </a:prstGeom>
          <a:solidFill>
            <a:srgbClr val="EDF3F1"/>
          </a:solidFill>
          <a:ln/>
        </p:spPr>
      </p:sp>
      <p:sp>
        <p:nvSpPr>
          <p:cNvPr id="11" name="Text 9"/>
          <p:cNvSpPr txBox="1"/>
          <p:nvPr/>
        </p:nvSpPr>
        <p:spPr>
          <a:xfrm>
            <a:off x="6199632" y="1737360"/>
            <a:ext cx="2633472" cy="868680"/>
          </a:xfrm>
          <a:prstGeom prst="rect">
            <a:avLst/>
          </a:prstGeom>
          <a:noFill/>
          <a:ln/>
        </p:spPr>
        <p:txBody>
          <a:bodyPr wrap="square" lIns="0" tIns="0" rIns="0" bIns="0" rtlCol="0" anchor="ctr"/>
          <a:lstStyle/>
          <a:p>
            <a:pPr algn="ctr" indent="0" marL="0">
              <a:buNone/>
            </a:pPr>
            <a:r>
              <a:rPr lang="en-US" sz="5200" b="1" dirty="0">
                <a:solidFill>
                  <a:srgbClr val="1BAF7A"/>
                </a:solidFill>
                <a:latin typeface="Cambria" pitchFamily="34" charset="0"/>
                <a:ea typeface="Cambria" pitchFamily="34" charset="-122"/>
                <a:cs typeface="Cambria" pitchFamily="34" charset="-120"/>
              </a:rPr>
              <a:t>16</a:t>
            </a:r>
            <a:endParaRPr lang="en-US" sz="5200" dirty="0"/>
          </a:p>
        </p:txBody>
      </p:sp>
      <p:sp>
        <p:nvSpPr>
          <p:cNvPr id="12" name="Text 10"/>
          <p:cNvSpPr txBox="1"/>
          <p:nvPr/>
        </p:nvSpPr>
        <p:spPr>
          <a:xfrm>
            <a:off x="6291072" y="2670048"/>
            <a:ext cx="2450592" cy="548640"/>
          </a:xfrm>
          <a:prstGeom prst="rect">
            <a:avLst/>
          </a:prstGeom>
          <a:noFill/>
          <a:ln/>
        </p:spPr>
        <p:txBody>
          <a:bodyPr wrap="square" lIns="0" tIns="0" rIns="0" bIns="0" rtlCol="0" anchor="ctr"/>
          <a:lstStyle/>
          <a:p>
            <a:pPr algn="ctr" indent="0" marL="0">
              <a:buNone/>
            </a:pPr>
            <a:r>
              <a:rPr lang="en-US" sz="1250" dirty="0">
                <a:solidFill>
                  <a:srgbClr val="51625D"/>
                </a:solidFill>
                <a:latin typeface="Calibri" pitchFamily="34" charset="0"/>
                <a:ea typeface="Calibri" pitchFamily="34" charset="-122"/>
                <a:cs typeface="Calibri" pitchFamily="34" charset="-120"/>
              </a:rPr>
              <a:t>verified (consensus-</a:t>
            </a:r>
            <a:endParaRPr lang="en-US" sz="1250" dirty="0"/>
          </a:p>
          <a:p>
            <a:pPr algn="ctr" indent="0" marL="0">
              <a:buNone/>
            </a:pPr>
            <a:r>
              <a:rPr lang="en-US" sz="1250" dirty="0">
                <a:solidFill>
                  <a:srgbClr val="51625D"/>
                </a:solidFill>
                <a:latin typeface="Calibri" pitchFamily="34" charset="0"/>
                <a:ea typeface="Calibri" pitchFamily="34" charset="-122"/>
                <a:cs typeface="Calibri" pitchFamily="34" charset="-120"/>
              </a:rPr>
              <a:t>equivalent) so far</a:t>
            </a:r>
            <a:endParaRPr lang="en-US" sz="1250" dirty="0"/>
          </a:p>
        </p:txBody>
      </p:sp>
      <p:sp>
        <p:nvSpPr>
          <p:cNvPr id="13" name="Shape 11"/>
          <p:cNvSpPr/>
          <p:nvPr/>
        </p:nvSpPr>
        <p:spPr>
          <a:xfrm>
            <a:off x="8979408" y="1600200"/>
            <a:ext cx="2724912" cy="1691640"/>
          </a:xfrm>
          <a:prstGeom prst="roundRect">
            <a:avLst>
              <a:gd name="adj" fmla="val 4865"/>
            </a:avLst>
          </a:prstGeom>
          <a:solidFill>
            <a:srgbClr val="EDF3F1"/>
          </a:solidFill>
          <a:ln/>
        </p:spPr>
      </p:sp>
      <p:sp>
        <p:nvSpPr>
          <p:cNvPr id="14" name="Text 12"/>
          <p:cNvSpPr txBox="1"/>
          <p:nvPr/>
        </p:nvSpPr>
        <p:spPr>
          <a:xfrm>
            <a:off x="9025128" y="1737360"/>
            <a:ext cx="2633472" cy="868680"/>
          </a:xfrm>
          <a:prstGeom prst="rect">
            <a:avLst/>
          </a:prstGeom>
          <a:noFill/>
          <a:ln/>
        </p:spPr>
        <p:txBody>
          <a:bodyPr wrap="square" lIns="0" tIns="0" rIns="0" bIns="0" rtlCol="0" anchor="ctr"/>
          <a:lstStyle/>
          <a:p>
            <a:pPr algn="ctr" indent="0" marL="0">
              <a:buNone/>
            </a:pPr>
            <a:r>
              <a:rPr lang="en-US" sz="5200" b="1" dirty="0">
                <a:solidFill>
                  <a:srgbClr val="C98A16"/>
                </a:solidFill>
                <a:latin typeface="Cambria" pitchFamily="34" charset="0"/>
                <a:ea typeface="Cambria" pitchFamily="34" charset="-122"/>
                <a:cs typeface="Cambria" pitchFamily="34" charset="-120"/>
              </a:rPr>
              <a:t>22</a:t>
            </a:r>
            <a:endParaRPr lang="en-US" sz="5200" dirty="0"/>
          </a:p>
        </p:txBody>
      </p:sp>
      <p:sp>
        <p:nvSpPr>
          <p:cNvPr id="15" name="Text 13"/>
          <p:cNvSpPr txBox="1"/>
          <p:nvPr/>
        </p:nvSpPr>
        <p:spPr>
          <a:xfrm>
            <a:off x="9116568" y="2670048"/>
            <a:ext cx="2450592" cy="548640"/>
          </a:xfrm>
          <a:prstGeom prst="rect">
            <a:avLst/>
          </a:prstGeom>
          <a:noFill/>
          <a:ln/>
        </p:spPr>
        <p:txBody>
          <a:bodyPr wrap="square" lIns="0" tIns="0" rIns="0" bIns="0" rtlCol="0" anchor="ctr"/>
          <a:lstStyle/>
          <a:p>
            <a:pPr algn="ctr" indent="0" marL="0">
              <a:buNone/>
            </a:pPr>
            <a:r>
              <a:rPr lang="en-US" sz="1250" dirty="0">
                <a:solidFill>
                  <a:srgbClr val="51625D"/>
                </a:solidFill>
                <a:latin typeface="Calibri" pitchFamily="34" charset="0"/>
                <a:ea typeface="Calibri" pitchFamily="34" charset="-122"/>
                <a:cs typeface="Calibri" pitchFamily="34" charset="-120"/>
              </a:rPr>
              <a:t>distinct trials</a:t>
            </a:r>
            <a:endParaRPr lang="en-US" sz="1250" dirty="0"/>
          </a:p>
          <a:p>
            <a:pPr algn="ctr" indent="0" marL="0">
              <a:buNone/>
            </a:pPr>
            <a:r>
              <a:rPr lang="en-US" sz="1250" dirty="0">
                <a:solidFill>
                  <a:srgbClr val="51625D"/>
                </a:solidFill>
                <a:latin typeface="Calibri" pitchFamily="34" charset="0"/>
                <a:ea typeface="Calibri" pitchFamily="34" charset="-122"/>
                <a:cs typeface="Calibri" pitchFamily="34" charset="-120"/>
              </a:rPr>
              <a:t>identified</a:t>
            </a:r>
            <a:endParaRPr lang="en-US" sz="1250" dirty="0"/>
          </a:p>
        </p:txBody>
      </p:sp>
      <p:sp>
        <p:nvSpPr>
          <p:cNvPr id="16" name="Text 14"/>
          <p:cNvSpPr txBox="1"/>
          <p:nvPr/>
        </p:nvSpPr>
        <p:spPr>
          <a:xfrm>
            <a:off x="502920" y="3703320"/>
            <a:ext cx="5440680" cy="365760"/>
          </a:xfrm>
          <a:prstGeom prst="rect">
            <a:avLst/>
          </a:prstGeom>
          <a:noFill/>
          <a:ln/>
        </p:spPr>
        <p:txBody>
          <a:bodyPr wrap="square" lIns="0" tIns="0" rIns="0" bIns="0" rtlCol="0" anchor="ctr"/>
          <a:lstStyle/>
          <a:p>
            <a:pPr indent="0" marL="0">
              <a:buNone/>
            </a:pPr>
            <a:r>
              <a:rPr lang="en-US" sz="1700" b="1" dirty="0">
                <a:solidFill>
                  <a:srgbClr val="0E6E63"/>
                </a:solidFill>
                <a:latin typeface="Cambria" pitchFamily="34" charset="0"/>
                <a:ea typeface="Cambria" pitchFamily="34" charset="-122"/>
                <a:cs typeface="Cambria" pitchFamily="34" charset="-120"/>
              </a:rPr>
              <a:t>What's built</a:t>
            </a:r>
            <a:endParaRPr lang="en-US" sz="1700" dirty="0"/>
          </a:p>
        </p:txBody>
      </p:sp>
      <p:sp>
        <p:nvSpPr>
          <p:cNvPr id="17" name="Text 15"/>
          <p:cNvSpPr txBox="1"/>
          <p:nvPr/>
        </p:nvSpPr>
        <p:spPr>
          <a:xfrm>
            <a:off x="548640" y="4160520"/>
            <a:ext cx="5440680" cy="2194560"/>
          </a:xfrm>
          <a:prstGeom prst="rect">
            <a:avLst/>
          </a:prstGeom>
          <a:noFill/>
          <a:ln/>
        </p:spPr>
        <p:txBody>
          <a:bodyPr wrap="square" lIns="0" tIns="0" rIns="0" bIns="0" rtlCol="0" anchor="ctr"/>
          <a:lstStyle/>
          <a:p>
            <a:pPr marL="177800" indent="-177800">
              <a:lnSpc>
                <a:spcPct val="105000"/>
              </a:lnSpc>
              <a:spcAft>
                <a:spcPts val="800"/>
              </a:spcAft>
              <a:buSzPct val="100000"/>
              <a:buChar char="•"/>
            </a:pPr>
            <a:r>
              <a:rPr lang="en-US" sz="1350" dirty="0">
                <a:solidFill>
                  <a:srgbClr val="13211D"/>
                </a:solidFill>
                <a:latin typeface="Calibri" pitchFamily="34" charset="0"/>
                <a:ea typeface="Calibri" pitchFamily="34" charset="-122"/>
                <a:cs typeface="Calibri" pitchFamily="34" charset="-120"/>
              </a:rPr>
              <a:t>Reproducible build pipeline + interactive dashboard on sypres.io</a:t>
            </a:r>
            <a:endParaRPr lang="en-US" sz="1350" dirty="0"/>
          </a:p>
          <a:p>
            <a:pPr marL="177800" indent="-177800">
              <a:lnSpc>
                <a:spcPct val="105000"/>
              </a:lnSpc>
              <a:spcAft>
                <a:spcPts val="800"/>
              </a:spcAft>
              <a:buSzPct val="100000"/>
              <a:buChar char="•"/>
            </a:pPr>
            <a:r>
              <a:rPr lang="en-US" sz="1350" dirty="0">
                <a:solidFill>
                  <a:srgbClr val="13211D"/>
                </a:solidFill>
                <a:latin typeface="Calibri" pitchFamily="34" charset="0"/>
                <a:ea typeface="Calibri" pitchFamily="34" charset="-122"/>
                <a:cs typeface="Calibri" pitchFamily="34" charset="-120"/>
              </a:rPr>
              <a:t>PRISMA study-flow — upstream counts entered and reconcile exactly</a:t>
            </a:r>
            <a:endParaRPr lang="en-US" sz="1350" dirty="0"/>
          </a:p>
          <a:p>
            <a:pPr marL="177800" indent="-177800">
              <a:lnSpc>
                <a:spcPct val="105000"/>
              </a:lnSpc>
              <a:spcAft>
                <a:spcPts val="800"/>
              </a:spcAft>
              <a:buSzPct val="100000"/>
              <a:buChar char="•"/>
            </a:pPr>
            <a:r>
              <a:rPr lang="en-US" sz="1350" dirty="0">
                <a:solidFill>
                  <a:srgbClr val="13211D"/>
                </a:solidFill>
                <a:latin typeface="Calibri" pitchFamily="34" charset="0"/>
                <a:ea typeface="Calibri" pitchFamily="34" charset="-122"/>
                <a:cs typeface="Calibri" pitchFamily="34" charset="-120"/>
              </a:rPr>
              <a:t>Trials auto-enriched from ClinicalTrials.gov; papers linked into trials</a:t>
            </a:r>
            <a:endParaRPr lang="en-US" sz="1350" dirty="0"/>
          </a:p>
          <a:p>
            <a:pPr marL="177800" indent="-177800">
              <a:lnSpc>
                <a:spcPct val="105000"/>
              </a:lnSpc>
              <a:spcAft>
                <a:spcPts val="800"/>
              </a:spcAft>
              <a:buSzPct val="100000"/>
              <a:buChar char="•"/>
            </a:pPr>
            <a:r>
              <a:rPr lang="en-US" sz="1350" dirty="0">
                <a:solidFill>
                  <a:srgbClr val="13211D"/>
                </a:solidFill>
                <a:latin typeface="Calibri" pitchFamily="34" charset="0"/>
                <a:ea typeface="Calibri" pitchFamily="34" charset="-122"/>
                <a:cs typeface="Calibri" pitchFamily="34" charset="-120"/>
              </a:rPr>
              <a:t>Ten preview figures, regenerated on every rebuild</a:t>
            </a:r>
            <a:endParaRPr lang="en-US" sz="1350" dirty="0"/>
          </a:p>
        </p:txBody>
      </p:sp>
      <p:sp>
        <p:nvSpPr>
          <p:cNvPr id="18" name="Shape 16"/>
          <p:cNvSpPr/>
          <p:nvPr/>
        </p:nvSpPr>
        <p:spPr>
          <a:xfrm>
            <a:off x="6309360" y="3657600"/>
            <a:ext cx="5349240" cy="2697480"/>
          </a:xfrm>
          <a:prstGeom prst="roundRect">
            <a:avLst>
              <a:gd name="adj" fmla="val 3051"/>
            </a:avLst>
          </a:prstGeom>
          <a:solidFill>
            <a:srgbClr val="10201C"/>
          </a:solidFill>
          <a:ln/>
        </p:spPr>
      </p:sp>
      <p:sp>
        <p:nvSpPr>
          <p:cNvPr id="19" name="Text 17"/>
          <p:cNvSpPr txBox="1"/>
          <p:nvPr/>
        </p:nvSpPr>
        <p:spPr>
          <a:xfrm>
            <a:off x="6583680" y="3931920"/>
            <a:ext cx="4846320" cy="365760"/>
          </a:xfrm>
          <a:prstGeom prst="rect">
            <a:avLst/>
          </a:prstGeom>
          <a:noFill/>
          <a:ln/>
        </p:spPr>
        <p:txBody>
          <a:bodyPr wrap="square" lIns="0" tIns="0" rIns="0" bIns="0" rtlCol="0" anchor="ctr"/>
          <a:lstStyle/>
          <a:p>
            <a:pPr indent="0" marL="0">
              <a:buNone/>
            </a:pPr>
            <a:r>
              <a:rPr lang="en-US" sz="1700" b="1" dirty="0">
                <a:solidFill>
                  <a:srgbClr val="1BAF7A"/>
                </a:solidFill>
                <a:latin typeface="Cambria" pitchFamily="34" charset="0"/>
                <a:ea typeface="Cambria" pitchFamily="34" charset="-122"/>
                <a:cs typeface="Cambria" pitchFamily="34" charset="-120"/>
              </a:rPr>
              <a:t>Where that puts us</a:t>
            </a:r>
            <a:endParaRPr lang="en-US" sz="1700" dirty="0"/>
          </a:p>
        </p:txBody>
      </p:sp>
      <p:sp>
        <p:nvSpPr>
          <p:cNvPr id="20" name="Text 18"/>
          <p:cNvSpPr txBox="1"/>
          <p:nvPr/>
        </p:nvSpPr>
        <p:spPr>
          <a:xfrm>
            <a:off x="6583680" y="4389120"/>
            <a:ext cx="4846320" cy="1920240"/>
          </a:xfrm>
          <a:prstGeom prst="rect">
            <a:avLst/>
          </a:prstGeom>
          <a:noFill/>
          <a:ln/>
        </p:spPr>
        <p:txBody>
          <a:bodyPr wrap="square" lIns="0" tIns="0" rIns="0" bIns="0" rtlCol="0" anchor="ctr"/>
          <a:lstStyle/>
          <a:p>
            <a:pPr indent="0" marL="0">
              <a:lnSpc>
                <a:spcPct val="118000"/>
              </a:lnSpc>
              <a:buNone/>
            </a:pPr>
            <a:r>
              <a:rPr lang="en-US" sz="1400" dirty="0">
                <a:solidFill>
                  <a:srgbClr val="E7EFEB"/>
                </a:solidFill>
                <a:latin typeface="Calibri" pitchFamily="34" charset="0"/>
                <a:ea typeface="Calibri" pitchFamily="34" charset="-122"/>
                <a:cs typeface="Calibri" pitchFamily="34" charset="-120"/>
              </a:rPr>
              <a:t>The pipeline and the template are settled enough to see the shape of the evidence base. Before extraction scales to hundreds of studies, four small template decisions are worth locking in — each cheap now and expensive as a retrospective pass later.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01C"/>
        </a:solidFill>
      </p:bgPr>
    </p:bg>
    <p:spTree>
      <p:nvGrpSpPr>
        <p:cNvPr id="1" name=""/>
        <p:cNvGrpSpPr/>
        <p:nvPr/>
      </p:nvGrpSpPr>
      <p:grpSpPr>
        <a:xfrm>
          <a:off x="0" y="0"/>
          <a:ext cx="0" cy="0"/>
          <a:chOff x="0" y="0"/>
          <a:chExt cx="0" cy="0"/>
        </a:xfrm>
      </p:grpSpPr>
      <p:sp>
        <p:nvSpPr>
          <p:cNvPr id="2" name="Shape 0"/>
          <p:cNvSpPr/>
          <p:nvPr/>
        </p:nvSpPr>
        <p:spPr>
          <a:xfrm>
            <a:off x="182880" y="5394960"/>
            <a:ext cx="1188720" cy="1188720"/>
          </a:xfrm>
          <a:prstGeom prst="ellipse">
            <a:avLst/>
          </a:prstGeom>
          <a:solidFill>
            <a:srgbClr val="1B332C"/>
          </a:solidFill>
          <a:ln/>
        </p:spPr>
      </p:sp>
      <p:sp>
        <p:nvSpPr>
          <p:cNvPr id="3" name="Shape 1"/>
          <p:cNvSpPr/>
          <p:nvPr/>
        </p:nvSpPr>
        <p:spPr>
          <a:xfrm>
            <a:off x="914400" y="6217920"/>
            <a:ext cx="594360" cy="594360"/>
          </a:xfrm>
          <a:prstGeom prst="ellipse">
            <a:avLst/>
          </a:prstGeom>
          <a:solidFill>
            <a:srgbClr val="0E6E63"/>
          </a:solidFill>
          <a:ln/>
        </p:spPr>
      </p:sp>
      <p:sp>
        <p:nvSpPr>
          <p:cNvPr id="4" name="Shape 2"/>
          <p:cNvSpPr/>
          <p:nvPr/>
        </p:nvSpPr>
        <p:spPr>
          <a:xfrm>
            <a:off x="1417320" y="5806440"/>
            <a:ext cx="320040" cy="320040"/>
          </a:xfrm>
          <a:prstGeom prst="ellipse">
            <a:avLst/>
          </a:prstGeom>
          <a:solidFill>
            <a:srgbClr val="1BAF7A"/>
          </a:solidFill>
          <a:ln/>
        </p:spPr>
      </p:sp>
      <p:sp>
        <p:nvSpPr>
          <p:cNvPr id="5" name="Text 3"/>
          <p:cNvSpPr txBox="1"/>
          <p:nvPr/>
        </p:nvSpPr>
        <p:spPr>
          <a:xfrm>
            <a:off x="640080" y="1737360"/>
            <a:ext cx="10058400" cy="274320"/>
          </a:xfrm>
          <a:prstGeom prst="rect">
            <a:avLst/>
          </a:prstGeom>
          <a:noFill/>
          <a:ln/>
        </p:spPr>
        <p:txBody>
          <a:bodyPr wrap="square" lIns="0" tIns="0" rIns="0" bIns="0" rtlCol="0" anchor="ctr"/>
          <a:lstStyle/>
          <a:p>
            <a:pPr indent="0" marL="0">
              <a:buNone/>
            </a:pPr>
            <a:r>
              <a:rPr lang="en-US" sz="1100" b="1" spc="220" kern="0" dirty="0">
                <a:solidFill>
                  <a:srgbClr val="1BAF7A"/>
                </a:solidFill>
                <a:latin typeface="Calibri" pitchFamily="34" charset="0"/>
                <a:ea typeface="Calibri" pitchFamily="34" charset="-122"/>
                <a:cs typeface="Calibri" pitchFamily="34" charset="-120"/>
              </a:rPr>
              <a:t>WHAT WE'RE BUILDING TOWARD</a:t>
            </a:r>
            <a:endParaRPr lang="en-US" sz="1100" dirty="0"/>
          </a:p>
        </p:txBody>
      </p:sp>
      <p:sp>
        <p:nvSpPr>
          <p:cNvPr id="6" name="Text 4"/>
          <p:cNvSpPr txBox="1"/>
          <p:nvPr/>
        </p:nvSpPr>
        <p:spPr>
          <a:xfrm>
            <a:off x="594360" y="2148840"/>
            <a:ext cx="10607040" cy="1828800"/>
          </a:xfrm>
          <a:prstGeom prst="rect">
            <a:avLst/>
          </a:prstGeom>
          <a:noFill/>
          <a:ln/>
        </p:spPr>
        <p:txBody>
          <a:bodyPr wrap="square" lIns="0" tIns="0" rIns="0" bIns="0" rtlCol="0" anchor="ctr"/>
          <a:lstStyle/>
          <a:p>
            <a:pPr indent="0" marL="0">
              <a:lnSpc>
                <a:spcPct val="103000"/>
              </a:lnSpc>
              <a:buNone/>
            </a:pPr>
            <a:r>
              <a:rPr lang="en-US" sz="4200" b="1" dirty="0">
                <a:solidFill>
                  <a:srgbClr val="FFFFFF"/>
                </a:solidFill>
                <a:latin typeface="Cambria" pitchFamily="34" charset="0"/>
                <a:ea typeface="Cambria" pitchFamily="34" charset="-122"/>
                <a:cs typeface="Cambria" pitchFamily="34" charset="-120"/>
              </a:rPr>
              <a:t>Ten figures — the shape of the</a:t>
            </a:r>
            <a:endParaRPr lang="en-US" sz="4200" dirty="0"/>
          </a:p>
          <a:p>
            <a:pPr indent="0" marL="0">
              <a:lnSpc>
                <a:spcPct val="103000"/>
              </a:lnSpc>
              <a:buNone/>
            </a:pPr>
            <a:r>
              <a:rPr lang="en-US" sz="4200" b="1" dirty="0">
                <a:solidFill>
                  <a:srgbClr val="FFFFFF"/>
                </a:solidFill>
                <a:latin typeface="Cambria" pitchFamily="34" charset="0"/>
                <a:ea typeface="Cambria" pitchFamily="34" charset="-122"/>
                <a:cs typeface="Cambria" pitchFamily="34" charset="-120"/>
              </a:rPr>
              <a:t>finished evidence map</a:t>
            </a:r>
            <a:endParaRPr lang="en-US" sz="4200" dirty="0"/>
          </a:p>
        </p:txBody>
      </p:sp>
      <p:sp>
        <p:nvSpPr>
          <p:cNvPr id="7" name="Shape 5"/>
          <p:cNvSpPr/>
          <p:nvPr/>
        </p:nvSpPr>
        <p:spPr>
          <a:xfrm>
            <a:off x="640080" y="4297680"/>
            <a:ext cx="10698480" cy="1417320"/>
          </a:xfrm>
          <a:prstGeom prst="roundRect">
            <a:avLst>
              <a:gd name="adj" fmla="val 5806"/>
            </a:avLst>
          </a:prstGeom>
          <a:solidFill>
            <a:srgbClr val="1E3A32"/>
          </a:solidFill>
          <a:ln/>
        </p:spPr>
      </p:sp>
      <p:sp>
        <p:nvSpPr>
          <p:cNvPr id="8" name="Text 6"/>
          <p:cNvSpPr txBox="1"/>
          <p:nvPr/>
        </p:nvSpPr>
        <p:spPr>
          <a:xfrm>
            <a:off x="914400" y="4526280"/>
            <a:ext cx="10149840" cy="365760"/>
          </a:xfrm>
          <a:prstGeom prst="rect">
            <a:avLst/>
          </a:prstGeom>
          <a:noFill/>
          <a:ln/>
        </p:spPr>
        <p:txBody>
          <a:bodyPr wrap="square" lIns="0" tIns="0" rIns="0" bIns="0" rtlCol="0" anchor="ctr"/>
          <a:lstStyle/>
          <a:p>
            <a:pPr indent="0" marL="0">
              <a:buNone/>
            </a:pPr>
            <a:r>
              <a:rPr lang="en-US" sz="1700" b="1" dirty="0">
                <a:solidFill>
                  <a:srgbClr val="1BAF7A"/>
                </a:solidFill>
                <a:latin typeface="Cambria" pitchFamily="34" charset="0"/>
                <a:ea typeface="Cambria" pitchFamily="34" charset="-122"/>
                <a:cs typeface="Cambria" pitchFamily="34" charset="-120"/>
              </a:rPr>
              <a:t>These are pilot previews.</a:t>
            </a:r>
            <a:endParaRPr lang="en-US" sz="1700" dirty="0"/>
          </a:p>
        </p:txBody>
      </p:sp>
      <p:sp>
        <p:nvSpPr>
          <p:cNvPr id="9" name="Text 7"/>
          <p:cNvSpPr txBox="1"/>
          <p:nvPr/>
        </p:nvSpPr>
        <p:spPr>
          <a:xfrm>
            <a:off x="914400" y="4892040"/>
            <a:ext cx="10149840" cy="777240"/>
          </a:xfrm>
          <a:prstGeom prst="rect">
            <a:avLst/>
          </a:prstGeom>
          <a:noFill/>
          <a:ln/>
        </p:spPr>
        <p:txBody>
          <a:bodyPr wrap="square" lIns="0" tIns="0" rIns="0" bIns="0" rtlCol="0" anchor="ctr"/>
          <a:lstStyle/>
          <a:p>
            <a:pPr indent="0" marL="0">
              <a:lnSpc>
                <a:spcPct val="115000"/>
              </a:lnSpc>
              <a:buNone/>
            </a:pPr>
            <a:r>
              <a:rPr lang="en-US" sz="1400" dirty="0">
                <a:solidFill>
                  <a:srgbClr val="E7EFEB"/>
                </a:solidFill>
                <a:latin typeface="Calibri" pitchFamily="34" charset="0"/>
                <a:ea typeface="Calibri" pitchFamily="34" charset="-122"/>
                <a:cs typeface="Calibri" pitchFamily="34" charset="-120"/>
              </a:rPr>
              <a:t>Extraction-derived panels rest on the 16 verified studies — far too few to report as results. What matters is the shape each figure takes at full scale, and which ones the four extraction gaps complete.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FIGURE 1  ·  STUDY FLOW (PRISMA 2020)</a:t>
            </a:r>
            <a:endParaRPr lang="en-US" sz="1100" dirty="0"/>
          </a:p>
        </p:txBody>
      </p:sp>
      <p:sp>
        <p:nvSpPr>
          <p:cNvPr id="3" name="Text 1"/>
          <p:cNvSpPr txBox="1"/>
          <p:nvPr/>
        </p:nvSpPr>
        <p:spPr>
          <a:xfrm>
            <a:off x="502920" y="786384"/>
            <a:ext cx="9418320" cy="868680"/>
          </a:xfrm>
          <a:prstGeom prst="rect">
            <a:avLst/>
          </a:prstGeom>
          <a:noFill/>
          <a:ln/>
        </p:spPr>
        <p:txBody>
          <a:bodyPr wrap="square" lIns="0" tIns="0" rIns="0" bIns="0" rtlCol="0" anchor="ctr"/>
          <a:lstStyle/>
          <a:p>
            <a:pPr indent="0" marL="0">
              <a:lnSpc>
                <a:spcPct val="103000"/>
              </a:lnSpc>
              <a:buNone/>
            </a:pPr>
            <a:r>
              <a:rPr lang="en-US" sz="1900" b="1" dirty="0">
                <a:solidFill>
                  <a:srgbClr val="13211D"/>
                </a:solidFill>
                <a:latin typeface="Cambria" pitchFamily="34" charset="0"/>
                <a:ea typeface="Cambria" pitchFamily="34" charset="-122"/>
                <a:cs typeface="Cambria" pitchFamily="34" charset="-120"/>
              </a:rPr>
              <a:t>Every record accounted for — from 14,502 identified</a:t>
            </a:r>
            <a:endParaRPr lang="en-US" sz="1900" dirty="0"/>
          </a:p>
          <a:p>
            <a:pPr indent="0" marL="0">
              <a:lnSpc>
                <a:spcPct val="103000"/>
              </a:lnSpc>
              <a:buNone/>
            </a:pPr>
            <a:r>
              <a:rPr lang="en-US" sz="1900" b="1" dirty="0">
                <a:solidFill>
                  <a:srgbClr val="13211D"/>
                </a:solidFill>
                <a:latin typeface="Cambria" pitchFamily="34" charset="0"/>
                <a:ea typeface="Cambria" pitchFamily="34" charset="-122"/>
                <a:cs typeface="Cambria" pitchFamily="34" charset="-120"/>
              </a:rPr>
              <a:t>down to the included set, and it reconciles exactly.</a:t>
            </a:r>
            <a:endParaRPr lang="en-US" sz="1900" dirty="0"/>
          </a:p>
        </p:txBody>
      </p:sp>
      <p:sp>
        <p:nvSpPr>
          <p:cNvPr id="4" name="Shape 2"/>
          <p:cNvSpPr/>
          <p:nvPr/>
        </p:nvSpPr>
        <p:spPr>
          <a:xfrm>
            <a:off x="10332720" y="502920"/>
            <a:ext cx="1371600" cy="274320"/>
          </a:xfrm>
          <a:prstGeom prst="roundRect">
            <a:avLst>
              <a:gd name="adj" fmla="val 50000"/>
            </a:avLst>
          </a:prstGeom>
          <a:solidFill>
            <a:srgbClr val="0E6E63"/>
          </a:solidFill>
          <a:ln/>
        </p:spPr>
      </p:sp>
      <p:sp>
        <p:nvSpPr>
          <p:cNvPr id="5" name="Text 3"/>
          <p:cNvSpPr txBox="1"/>
          <p:nvPr/>
        </p:nvSpPr>
        <p:spPr>
          <a:xfrm>
            <a:off x="10332720" y="498348"/>
            <a:ext cx="137160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Complete</a:t>
            </a:r>
            <a:endParaRPr lang="en-US" sz="950" dirty="0"/>
          </a:p>
        </p:txBody>
      </p:sp>
      <p:pic>
        <p:nvPicPr>
          <p:cNvPr id="6" name="Image 0" descr="/Users/sps253/Documents/GIT/sypres-docs/analysis/master-db/figures/output/fig01_prisma.png">    </p:cNvPr>
          <p:cNvPicPr>
            <a:picLocks noChangeAspect="1"/>
          </p:cNvPicPr>
          <p:nvPr/>
        </p:nvPicPr>
        <p:blipFill>
          <a:blip r:embed="rId1"/>
          <a:srcRect l="0" r="0" t="0" b="0"/>
          <a:stretch/>
        </p:blipFill>
        <p:spPr>
          <a:xfrm>
            <a:off x="457200" y="1783080"/>
            <a:ext cx="5212080" cy="4572000"/>
          </a:xfrm>
          <a:prstGeom prst="rect">
            <a:avLst/>
          </a:prstGeom>
        </p:spPr>
      </p:pic>
      <p:sp>
        <p:nvSpPr>
          <p:cNvPr id="7" name="Shape 4"/>
          <p:cNvSpPr/>
          <p:nvPr/>
        </p:nvSpPr>
        <p:spPr>
          <a:xfrm>
            <a:off x="6172200" y="1965960"/>
            <a:ext cx="5532120" cy="4160520"/>
          </a:xfrm>
          <a:prstGeom prst="roundRect">
            <a:avLst>
              <a:gd name="adj" fmla="val 1978"/>
            </a:avLst>
          </a:prstGeom>
          <a:solidFill>
            <a:srgbClr val="EDF3F1"/>
          </a:solidFill>
          <a:ln/>
        </p:spPr>
      </p:sp>
      <p:sp>
        <p:nvSpPr>
          <p:cNvPr id="8" name="Text 5"/>
          <p:cNvSpPr txBox="1"/>
          <p:nvPr/>
        </p:nvSpPr>
        <p:spPr>
          <a:xfrm>
            <a:off x="6492240" y="2194560"/>
            <a:ext cx="4892040" cy="365760"/>
          </a:xfrm>
          <a:prstGeom prst="rect">
            <a:avLst/>
          </a:prstGeom>
          <a:noFill/>
          <a:ln/>
        </p:spPr>
        <p:txBody>
          <a:bodyPr wrap="square" lIns="0" tIns="0" rIns="0" bIns="0" rtlCol="0" anchor="ctr"/>
          <a:lstStyle/>
          <a:p>
            <a:pPr indent="0" marL="0">
              <a:buNone/>
            </a:pPr>
            <a:r>
              <a:rPr lang="en-US" sz="1700" b="1" dirty="0">
                <a:solidFill>
                  <a:srgbClr val="0E6E63"/>
                </a:solidFill>
                <a:latin typeface="Cambria" pitchFamily="34" charset="0"/>
                <a:ea typeface="Cambria" pitchFamily="34" charset="-122"/>
                <a:cs typeface="Cambria" pitchFamily="34" charset="-120"/>
              </a:rPr>
              <a:t>Why it matters</a:t>
            </a:r>
            <a:endParaRPr lang="en-US" sz="1700" dirty="0"/>
          </a:p>
        </p:txBody>
      </p:sp>
      <p:sp>
        <p:nvSpPr>
          <p:cNvPr id="9" name="Text 6"/>
          <p:cNvSpPr txBox="1"/>
          <p:nvPr/>
        </p:nvSpPr>
        <p:spPr>
          <a:xfrm>
            <a:off x="6537960" y="2697480"/>
            <a:ext cx="4800600" cy="3291840"/>
          </a:xfrm>
          <a:prstGeom prst="rect">
            <a:avLst/>
          </a:prstGeom>
          <a:noFill/>
          <a:ln/>
        </p:spPr>
        <p:txBody>
          <a:bodyPr wrap="square" lIns="0" tIns="0" rIns="0" bIns="0" rtlCol="0" anchor="ctr"/>
          <a:lstStyle/>
          <a:p>
            <a:pPr marL="177800" indent="-177800">
              <a:lnSpc>
                <a:spcPct val="112000"/>
              </a:lnSpc>
              <a:spcAft>
                <a:spcPts val="1100"/>
              </a:spcAft>
              <a:buSzPct val="100000"/>
              <a:buChar char="•"/>
            </a:pPr>
            <a:r>
              <a:rPr lang="en-US" sz="1400" dirty="0">
                <a:solidFill>
                  <a:srgbClr val="51625D"/>
                </a:solidFill>
                <a:latin typeface="Calibri" pitchFamily="34" charset="0"/>
                <a:ea typeface="Calibri" pitchFamily="34" charset="-122"/>
                <a:cs typeface="Calibri" pitchFamily="34" charset="-120"/>
              </a:rPr>
              <a:t>The transparency backbone of any systematic review — reviewers and journals expect it.</a:t>
            </a:r>
            <a:endParaRPr lang="en-US" sz="1400" dirty="0"/>
          </a:p>
          <a:p>
            <a:pPr marL="177800" indent="-177800">
              <a:lnSpc>
                <a:spcPct val="112000"/>
              </a:lnSpc>
              <a:spcAft>
                <a:spcPts val="1100"/>
              </a:spcAft>
              <a:buSzPct val="100000"/>
              <a:buChar char="•"/>
            </a:pPr>
            <a:r>
              <a:rPr lang="en-US" sz="1400" dirty="0">
                <a:solidFill>
                  <a:srgbClr val="51625D"/>
                </a:solidFill>
                <a:latin typeface="Calibri" pitchFamily="34" charset="0"/>
                <a:ea typeface="Calibri" pitchFamily="34" charset="-122"/>
                <a:cs typeface="Calibri" pitchFamily="34" charset="-120"/>
              </a:rPr>
              <a:t>Upstream counts (identified, de-duplicated, auto-excluded) are now entered by hand and reconcile to the record.</a:t>
            </a:r>
            <a:endParaRPr lang="en-US" sz="1400" dirty="0"/>
          </a:p>
          <a:p>
            <a:pPr marL="177800" indent="-177800">
              <a:lnSpc>
                <a:spcPct val="112000"/>
              </a:lnSpc>
              <a:spcAft>
                <a:spcPts val="1100"/>
              </a:spcAft>
              <a:buSzPct val="100000"/>
              <a:buChar char="•"/>
            </a:pPr>
            <a:r>
              <a:rPr lang="en-US" sz="1400" dirty="0">
                <a:solidFill>
                  <a:srgbClr val="51625D"/>
                </a:solidFill>
                <a:latin typeface="Calibri" pitchFamily="34" charset="0"/>
                <a:ea typeface="Calibri" pitchFamily="34" charset="-122"/>
                <a:cs typeface="Calibri" pitchFamily="34" charset="-120"/>
              </a:rPr>
              <a:t>Following PRISMA 2020, automation removals count as “removed before screening,” not screened.</a:t>
            </a:r>
            <a:endParaRPr lang="en-US" sz="1400" dirty="0"/>
          </a:p>
          <a:p>
            <a:pPr marL="177800" indent="-177800">
              <a:lnSpc>
                <a:spcPct val="112000"/>
              </a:lnSpc>
              <a:spcAft>
                <a:spcPts val="1100"/>
              </a:spcAft>
              <a:buSzPct val="100000"/>
              <a:buChar char="•"/>
            </a:pPr>
            <a:r>
              <a:rPr lang="en-US" sz="1400" dirty="0">
                <a:solidFill>
                  <a:srgbClr val="51625D"/>
                </a:solidFill>
                <a:latin typeface="Calibri" pitchFamily="34" charset="0"/>
                <a:ea typeface="Calibri" pitchFamily="34" charset="-122"/>
                <a:cs typeface="Calibri" pitchFamily="34" charset="-120"/>
              </a:rPr>
              <a:t>Regenerates from the data on every rebuild, so it never drifts from the actual corpus.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FIGURE 2  ·  GROWTH &amp; COMPOSITION</a:t>
            </a:r>
            <a:endParaRPr lang="en-US" sz="1100" dirty="0"/>
          </a:p>
        </p:txBody>
      </p:sp>
      <p:sp>
        <p:nvSpPr>
          <p:cNvPr id="3" name="Text 1"/>
          <p:cNvSpPr txBox="1"/>
          <p:nvPr/>
        </p:nvSpPr>
        <p:spPr>
          <a:xfrm>
            <a:off x="502920" y="786384"/>
            <a:ext cx="9646920" cy="868680"/>
          </a:xfrm>
          <a:prstGeom prst="rect">
            <a:avLst/>
          </a:prstGeom>
          <a:noFill/>
          <a:ln/>
        </p:spPr>
        <p:txBody>
          <a:bodyPr wrap="square" lIns="0" tIns="0" rIns="0" bIns="0" rtlCol="0" anchor="ctr"/>
          <a:lstStyle/>
          <a:p>
            <a:pPr indent="0" marL="0">
              <a:lnSpc>
                <a:spcPct val="103000"/>
              </a:lnSpc>
              <a:buNone/>
            </a:pPr>
            <a:r>
              <a:rPr lang="en-US" sz="1900" b="1" dirty="0">
                <a:solidFill>
                  <a:srgbClr val="13211D"/>
                </a:solidFill>
                <a:latin typeface="Cambria" pitchFamily="34" charset="0"/>
                <a:ea typeface="Cambria" pitchFamily="34" charset="-122"/>
                <a:cs typeface="Cambria" pitchFamily="34" charset="-120"/>
              </a:rPr>
              <a:t>Two distinct eras, and a shift from LSD toward MDMA and psilocybin — already at full scale.</a:t>
            </a:r>
            <a:endParaRPr lang="en-US" sz="1900" dirty="0"/>
          </a:p>
        </p:txBody>
      </p:sp>
      <p:sp>
        <p:nvSpPr>
          <p:cNvPr id="4" name="Shape 2"/>
          <p:cNvSpPr/>
          <p:nvPr/>
        </p:nvSpPr>
        <p:spPr>
          <a:xfrm>
            <a:off x="10332720" y="502920"/>
            <a:ext cx="1371600" cy="274320"/>
          </a:xfrm>
          <a:prstGeom prst="roundRect">
            <a:avLst>
              <a:gd name="adj" fmla="val 50000"/>
            </a:avLst>
          </a:prstGeom>
          <a:solidFill>
            <a:srgbClr val="0E6E63"/>
          </a:solidFill>
          <a:ln/>
        </p:spPr>
      </p:sp>
      <p:sp>
        <p:nvSpPr>
          <p:cNvPr id="5" name="Text 3"/>
          <p:cNvSpPr txBox="1"/>
          <p:nvPr/>
        </p:nvSpPr>
        <p:spPr>
          <a:xfrm>
            <a:off x="10332720" y="498348"/>
            <a:ext cx="137160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All 95 papers</a:t>
            </a:r>
            <a:endParaRPr lang="en-US" sz="950" dirty="0"/>
          </a:p>
        </p:txBody>
      </p:sp>
      <p:pic>
        <p:nvPicPr>
          <p:cNvPr id="6" name="Image 0" descr="/Users/sps253/Documents/GIT/sypres-docs/analysis/master-db/figures/output/fig02_growth.png">    </p:cNvPr>
          <p:cNvPicPr>
            <a:picLocks noChangeAspect="1"/>
          </p:cNvPicPr>
          <p:nvPr/>
        </p:nvPicPr>
        <p:blipFill>
          <a:blip r:embed="rId1"/>
          <a:srcRect l="0" r="0" t="0" b="0"/>
          <a:stretch/>
        </p:blipFill>
        <p:spPr>
          <a:xfrm>
            <a:off x="457200" y="1783080"/>
            <a:ext cx="11274552" cy="45262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FIGURE 3  ·  EVIDENCE-AND-GAP MATRIX</a:t>
            </a:r>
            <a:endParaRPr lang="en-US" sz="1100" dirty="0"/>
          </a:p>
        </p:txBody>
      </p:sp>
      <p:sp>
        <p:nvSpPr>
          <p:cNvPr id="3" name="Text 1"/>
          <p:cNvSpPr txBox="1"/>
          <p:nvPr/>
        </p:nvSpPr>
        <p:spPr>
          <a:xfrm>
            <a:off x="502920" y="786384"/>
            <a:ext cx="9646920" cy="868680"/>
          </a:xfrm>
          <a:prstGeom prst="rect">
            <a:avLst/>
          </a:prstGeom>
          <a:noFill/>
          <a:ln/>
        </p:spPr>
        <p:txBody>
          <a:bodyPr wrap="square" lIns="0" tIns="0" rIns="0" bIns="0" rtlCol="0" anchor="ctr"/>
          <a:lstStyle/>
          <a:p>
            <a:pPr indent="0" marL="0">
              <a:lnSpc>
                <a:spcPct val="103000"/>
              </a:lnSpc>
              <a:buNone/>
            </a:pPr>
            <a:r>
              <a:rPr lang="en-US" sz="1900" b="1" dirty="0">
                <a:solidFill>
                  <a:srgbClr val="13211D"/>
                </a:solidFill>
                <a:latin typeface="Cambria" pitchFamily="34" charset="0"/>
                <a:ea typeface="Cambria" pitchFamily="34" charset="-122"/>
                <a:cs typeface="Cambria" pitchFamily="34" charset="-120"/>
              </a:rPr>
              <a:t>What has been trialled, in whom — the empty cells are the research-gap map.</a:t>
            </a:r>
            <a:endParaRPr lang="en-US" sz="1900" dirty="0"/>
          </a:p>
        </p:txBody>
      </p:sp>
      <p:sp>
        <p:nvSpPr>
          <p:cNvPr id="4" name="Shape 2"/>
          <p:cNvSpPr/>
          <p:nvPr/>
        </p:nvSpPr>
        <p:spPr>
          <a:xfrm>
            <a:off x="10332720" y="502920"/>
            <a:ext cx="1371600" cy="274320"/>
          </a:xfrm>
          <a:prstGeom prst="roundRect">
            <a:avLst>
              <a:gd name="adj" fmla="val 50000"/>
            </a:avLst>
          </a:prstGeom>
          <a:solidFill>
            <a:srgbClr val="0E6E63"/>
          </a:solidFill>
          <a:ln/>
        </p:spPr>
      </p:sp>
      <p:sp>
        <p:nvSpPr>
          <p:cNvPr id="5" name="Text 3"/>
          <p:cNvSpPr txBox="1"/>
          <p:nvPr/>
        </p:nvSpPr>
        <p:spPr>
          <a:xfrm>
            <a:off x="10332720" y="498348"/>
            <a:ext cx="137160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Signature figure</a:t>
            </a:r>
            <a:endParaRPr lang="en-US" sz="950" dirty="0"/>
          </a:p>
        </p:txBody>
      </p:sp>
      <p:pic>
        <p:nvPicPr>
          <p:cNvPr id="6" name="Image 0" descr="/Users/sps253/Documents/GIT/sypres-docs/analysis/master-db/figures/output/fig03_gap_matrix.png">    </p:cNvPr>
          <p:cNvPicPr>
            <a:picLocks noChangeAspect="1"/>
          </p:cNvPicPr>
          <p:nvPr/>
        </p:nvPicPr>
        <p:blipFill>
          <a:blip r:embed="rId1"/>
          <a:srcRect l="0" r="0" t="0" b="0"/>
          <a:stretch/>
        </p:blipFill>
        <p:spPr>
          <a:xfrm>
            <a:off x="457200" y="1783080"/>
            <a:ext cx="11274552" cy="4526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FIGURE 4  ·  PAPERS ARE NOT TRIALS</a:t>
            </a:r>
            <a:endParaRPr lang="en-US" sz="1100" dirty="0"/>
          </a:p>
        </p:txBody>
      </p:sp>
      <p:sp>
        <p:nvSpPr>
          <p:cNvPr id="3" name="Text 1"/>
          <p:cNvSpPr txBox="1"/>
          <p:nvPr/>
        </p:nvSpPr>
        <p:spPr>
          <a:xfrm>
            <a:off x="502920" y="786384"/>
            <a:ext cx="9646920" cy="868680"/>
          </a:xfrm>
          <a:prstGeom prst="rect">
            <a:avLst/>
          </a:prstGeom>
          <a:noFill/>
          <a:ln/>
        </p:spPr>
        <p:txBody>
          <a:bodyPr wrap="square" lIns="0" tIns="0" rIns="0" bIns="0" rtlCol="0" anchor="ctr"/>
          <a:lstStyle/>
          <a:p>
            <a:pPr indent="0" marL="0">
              <a:lnSpc>
                <a:spcPct val="103000"/>
              </a:lnSpc>
              <a:buNone/>
            </a:pPr>
            <a:r>
              <a:rPr lang="en-US" sz="1900" b="1" dirty="0">
                <a:solidFill>
                  <a:srgbClr val="13211D"/>
                </a:solidFill>
                <a:latin typeface="Cambria" pitchFamily="34" charset="0"/>
                <a:ea typeface="Cambria" pitchFamily="34" charset="-122"/>
                <a:cs typeface="Cambria" pitchFamily="34" charset="-120"/>
              </a:rPr>
              <a:t>95 papers collapse to 22 identified trials — and single trials span several papers over years.</a:t>
            </a:r>
            <a:endParaRPr lang="en-US" sz="1900" dirty="0"/>
          </a:p>
        </p:txBody>
      </p:sp>
      <p:sp>
        <p:nvSpPr>
          <p:cNvPr id="4" name="Shape 2"/>
          <p:cNvSpPr/>
          <p:nvPr/>
        </p:nvSpPr>
        <p:spPr>
          <a:xfrm>
            <a:off x="10332720" y="502920"/>
            <a:ext cx="1371600" cy="274320"/>
          </a:xfrm>
          <a:prstGeom prst="roundRect">
            <a:avLst>
              <a:gd name="adj" fmla="val 50000"/>
            </a:avLst>
          </a:prstGeom>
          <a:solidFill>
            <a:srgbClr val="0E6E63"/>
          </a:solidFill>
          <a:ln/>
        </p:spPr>
      </p:sp>
      <p:sp>
        <p:nvSpPr>
          <p:cNvPr id="5" name="Text 3"/>
          <p:cNvSpPr txBox="1"/>
          <p:nvPr/>
        </p:nvSpPr>
        <p:spPr>
          <a:xfrm>
            <a:off x="10332720" y="498348"/>
            <a:ext cx="137160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Novel</a:t>
            </a:r>
            <a:endParaRPr lang="en-US" sz="950" dirty="0"/>
          </a:p>
        </p:txBody>
      </p:sp>
      <p:pic>
        <p:nvPicPr>
          <p:cNvPr id="6" name="Image 0" descr="/Users/sps253/Documents/GIT/sypres-docs/analysis/master-db/figures/output/fig04_papers_trials.png">    </p:cNvPr>
          <p:cNvPicPr>
            <a:picLocks noChangeAspect="1"/>
          </p:cNvPicPr>
          <p:nvPr/>
        </p:nvPicPr>
        <p:blipFill>
          <a:blip r:embed="rId1"/>
          <a:srcRect l="0" r="0" t="0" b="0"/>
          <a:stretch/>
        </p:blipFill>
        <p:spPr>
          <a:xfrm>
            <a:off x="457200" y="1783080"/>
            <a:ext cx="11274552" cy="45262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FIGURE 5  ·  THE OUTCOME LANDSCAPE</a:t>
            </a:r>
            <a:endParaRPr lang="en-US" sz="1100" dirty="0"/>
          </a:p>
        </p:txBody>
      </p:sp>
      <p:sp>
        <p:nvSpPr>
          <p:cNvPr id="3" name="Text 1"/>
          <p:cNvSpPr txBox="1"/>
          <p:nvPr/>
        </p:nvSpPr>
        <p:spPr>
          <a:xfrm>
            <a:off x="502920" y="786384"/>
            <a:ext cx="9646920" cy="868680"/>
          </a:xfrm>
          <a:prstGeom prst="rect">
            <a:avLst/>
          </a:prstGeom>
          <a:noFill/>
          <a:ln/>
        </p:spPr>
        <p:txBody>
          <a:bodyPr wrap="square" lIns="0" tIns="0" rIns="0" bIns="0" rtlCol="0" anchor="ctr"/>
          <a:lstStyle/>
          <a:p>
            <a:pPr indent="0" marL="0">
              <a:lnSpc>
                <a:spcPct val="103000"/>
              </a:lnSpc>
              <a:buNone/>
            </a:pPr>
            <a:r>
              <a:rPr lang="en-US" sz="1900" b="1" dirty="0">
                <a:solidFill>
                  <a:srgbClr val="13211D"/>
                </a:solidFill>
                <a:latin typeface="Cambria" pitchFamily="34" charset="0"/>
                <a:ea typeface="Cambria" pitchFamily="34" charset="-122"/>
                <a:cs typeface="Cambria" pitchFamily="34" charset="-120"/>
              </a:rPr>
              <a:t>No two trials measure the same set of domains — the empirical case for a core outcome set.</a:t>
            </a:r>
            <a:endParaRPr lang="en-US" sz="1900" dirty="0"/>
          </a:p>
        </p:txBody>
      </p:sp>
      <p:sp>
        <p:nvSpPr>
          <p:cNvPr id="4" name="Shape 2"/>
          <p:cNvSpPr/>
          <p:nvPr/>
        </p:nvSpPr>
        <p:spPr>
          <a:xfrm>
            <a:off x="10332720" y="502920"/>
            <a:ext cx="1371600" cy="274320"/>
          </a:xfrm>
          <a:prstGeom prst="roundRect">
            <a:avLst>
              <a:gd name="adj" fmla="val 50000"/>
            </a:avLst>
          </a:prstGeom>
          <a:solidFill>
            <a:srgbClr val="2A78D6"/>
          </a:solidFill>
          <a:ln/>
        </p:spPr>
      </p:sp>
      <p:sp>
        <p:nvSpPr>
          <p:cNvPr id="5" name="Text 3"/>
          <p:cNvSpPr txBox="1"/>
          <p:nvPr/>
        </p:nvSpPr>
        <p:spPr>
          <a:xfrm>
            <a:off x="10332720" y="498348"/>
            <a:ext cx="137160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Verified n=16</a:t>
            </a:r>
            <a:endParaRPr lang="en-US" sz="950" dirty="0"/>
          </a:p>
        </p:txBody>
      </p:sp>
      <p:pic>
        <p:nvPicPr>
          <p:cNvPr id="6" name="Image 0" descr="/Users/sps253/Documents/GIT/sypres-docs/analysis/master-db/figures/output/fig05_outcomes.png">    </p:cNvPr>
          <p:cNvPicPr>
            <a:picLocks noChangeAspect="1"/>
          </p:cNvPicPr>
          <p:nvPr/>
        </p:nvPicPr>
        <p:blipFill>
          <a:blip r:embed="rId1"/>
          <a:srcRect l="0" r="0" t="0" b="0"/>
          <a:stretch/>
        </p:blipFill>
        <p:spPr>
          <a:xfrm>
            <a:off x="457200" y="1783080"/>
            <a:ext cx="11274552" cy="4526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FIGURE 6  ·  STATISTICAL SCALE</a:t>
            </a:r>
            <a:endParaRPr lang="en-US" sz="1100" dirty="0"/>
          </a:p>
        </p:txBody>
      </p:sp>
      <p:sp>
        <p:nvSpPr>
          <p:cNvPr id="3" name="Text 1"/>
          <p:cNvSpPr txBox="1"/>
          <p:nvPr/>
        </p:nvSpPr>
        <p:spPr>
          <a:xfrm>
            <a:off x="502920" y="786384"/>
            <a:ext cx="9646920" cy="868680"/>
          </a:xfrm>
          <a:prstGeom prst="rect">
            <a:avLst/>
          </a:prstGeom>
          <a:noFill/>
          <a:ln/>
        </p:spPr>
        <p:txBody>
          <a:bodyPr wrap="square" lIns="0" tIns="0" rIns="0" bIns="0" rtlCol="0" anchor="ctr"/>
          <a:lstStyle/>
          <a:p>
            <a:pPr indent="0" marL="0">
              <a:lnSpc>
                <a:spcPct val="103000"/>
              </a:lnSpc>
              <a:buNone/>
            </a:pPr>
            <a:r>
              <a:rPr lang="en-US" sz="1900" b="1" dirty="0">
                <a:solidFill>
                  <a:srgbClr val="13211D"/>
                </a:solidFill>
                <a:latin typeface="Cambria" pitchFamily="34" charset="0"/>
                <a:ea typeface="Cambria" pitchFamily="34" charset="-122"/>
                <a:cs typeface="Cambria" pitchFamily="34" charset="-120"/>
              </a:rPr>
              <a:t>Small trials (median 24 participants), and attrition that is usually undeterminable — why Gap 2 matters.</a:t>
            </a:r>
            <a:endParaRPr lang="en-US" sz="1900" dirty="0"/>
          </a:p>
        </p:txBody>
      </p:sp>
      <p:sp>
        <p:nvSpPr>
          <p:cNvPr id="4" name="Shape 2"/>
          <p:cNvSpPr/>
          <p:nvPr/>
        </p:nvSpPr>
        <p:spPr>
          <a:xfrm>
            <a:off x="10332720" y="502920"/>
            <a:ext cx="1371600" cy="274320"/>
          </a:xfrm>
          <a:prstGeom prst="roundRect">
            <a:avLst>
              <a:gd name="adj" fmla="val 50000"/>
            </a:avLst>
          </a:prstGeom>
          <a:solidFill>
            <a:srgbClr val="2A78D6"/>
          </a:solidFill>
          <a:ln/>
        </p:spPr>
      </p:sp>
      <p:sp>
        <p:nvSpPr>
          <p:cNvPr id="5" name="Text 3"/>
          <p:cNvSpPr txBox="1"/>
          <p:nvPr/>
        </p:nvSpPr>
        <p:spPr>
          <a:xfrm>
            <a:off x="10332720" y="498348"/>
            <a:ext cx="137160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Verified n=16</a:t>
            </a:r>
            <a:endParaRPr lang="en-US" sz="950" dirty="0"/>
          </a:p>
        </p:txBody>
      </p:sp>
      <p:pic>
        <p:nvPicPr>
          <p:cNvPr id="6" name="Image 0" descr="/Users/sps253/Documents/GIT/sypres-docs/analysis/master-db/figures/output/fig06_scale.png">    </p:cNvPr>
          <p:cNvPicPr>
            <a:picLocks noChangeAspect="1"/>
          </p:cNvPicPr>
          <p:nvPr/>
        </p:nvPicPr>
        <p:blipFill>
          <a:blip r:embed="rId1"/>
          <a:srcRect l="0" r="0" t="0" b="0"/>
          <a:stretch/>
        </p:blipFill>
        <p:spPr>
          <a:xfrm>
            <a:off x="457200" y="1783080"/>
            <a:ext cx="11274552" cy="4526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FIGURE 7  ·  DESIGN &amp; RIGOUR</a:t>
            </a:r>
            <a:endParaRPr lang="en-US" sz="1100" dirty="0"/>
          </a:p>
        </p:txBody>
      </p:sp>
      <p:sp>
        <p:nvSpPr>
          <p:cNvPr id="3" name="Text 1"/>
          <p:cNvSpPr txBox="1"/>
          <p:nvPr/>
        </p:nvSpPr>
        <p:spPr>
          <a:xfrm>
            <a:off x="502920" y="786384"/>
            <a:ext cx="9646920" cy="868680"/>
          </a:xfrm>
          <a:prstGeom prst="rect">
            <a:avLst/>
          </a:prstGeom>
          <a:noFill/>
          <a:ln/>
        </p:spPr>
        <p:txBody>
          <a:bodyPr wrap="square" lIns="0" tIns="0" rIns="0" bIns="0" rtlCol="0" anchor="ctr"/>
          <a:lstStyle/>
          <a:p>
            <a:pPr indent="0" marL="0">
              <a:lnSpc>
                <a:spcPct val="103000"/>
              </a:lnSpc>
              <a:buNone/>
            </a:pPr>
            <a:r>
              <a:rPr lang="en-US" sz="1900" b="1" dirty="0">
                <a:solidFill>
                  <a:srgbClr val="13211D"/>
                </a:solidFill>
                <a:latin typeface="Cambria" pitchFamily="34" charset="0"/>
                <a:ea typeface="Cambria" pitchFamily="34" charset="-122"/>
                <a:cs typeface="Cambria" pitchFamily="34" charset="-120"/>
              </a:rPr>
              <a:t>Comparators are extracted; design and masking come free from the registry — for registered trials only.</a:t>
            </a:r>
            <a:endParaRPr lang="en-US" sz="1900" dirty="0"/>
          </a:p>
        </p:txBody>
      </p:sp>
      <p:sp>
        <p:nvSpPr>
          <p:cNvPr id="4" name="Shape 2"/>
          <p:cNvSpPr/>
          <p:nvPr/>
        </p:nvSpPr>
        <p:spPr>
          <a:xfrm>
            <a:off x="10332720" y="502920"/>
            <a:ext cx="1371600" cy="274320"/>
          </a:xfrm>
          <a:prstGeom prst="roundRect">
            <a:avLst>
              <a:gd name="adj" fmla="val 50000"/>
            </a:avLst>
          </a:prstGeom>
          <a:solidFill>
            <a:srgbClr val="C98A16"/>
          </a:solidFill>
          <a:ln/>
        </p:spPr>
      </p:sp>
      <p:sp>
        <p:nvSpPr>
          <p:cNvPr id="5" name="Text 3"/>
          <p:cNvSpPr txBox="1"/>
          <p:nvPr/>
        </p:nvSpPr>
        <p:spPr>
          <a:xfrm>
            <a:off x="10332720" y="498348"/>
            <a:ext cx="137160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Registered only</a:t>
            </a:r>
            <a:endParaRPr lang="en-US" sz="950" dirty="0"/>
          </a:p>
        </p:txBody>
      </p:sp>
      <p:pic>
        <p:nvPicPr>
          <p:cNvPr id="6" name="Image 0" descr="/Users/sps253/Documents/GIT/sypres-docs/analysis/master-db/figures/output/fig07_design.png">    </p:cNvPr>
          <p:cNvPicPr>
            <a:picLocks noChangeAspect="1"/>
          </p:cNvPicPr>
          <p:nvPr/>
        </p:nvPicPr>
        <p:blipFill>
          <a:blip r:embed="rId1"/>
          <a:srcRect l="0" r="0" t="0" b="0"/>
          <a:stretch/>
        </p:blipFill>
        <p:spPr>
          <a:xfrm>
            <a:off x="457200" y="1783080"/>
            <a:ext cx="11274552" cy="45262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FIGURE 8  ·  WHO IS STUDIED, AND WHERE</a:t>
            </a:r>
            <a:endParaRPr lang="en-US" sz="1100" dirty="0"/>
          </a:p>
        </p:txBody>
      </p:sp>
      <p:sp>
        <p:nvSpPr>
          <p:cNvPr id="3" name="Text 1"/>
          <p:cNvSpPr txBox="1"/>
          <p:nvPr/>
        </p:nvSpPr>
        <p:spPr>
          <a:xfrm>
            <a:off x="502920" y="786384"/>
            <a:ext cx="9646920" cy="868680"/>
          </a:xfrm>
          <a:prstGeom prst="rect">
            <a:avLst/>
          </a:prstGeom>
          <a:noFill/>
          <a:ln/>
        </p:spPr>
        <p:txBody>
          <a:bodyPr wrap="square" lIns="0" tIns="0" rIns="0" bIns="0" rtlCol="0" anchor="ctr"/>
          <a:lstStyle/>
          <a:p>
            <a:pPr indent="0" marL="0">
              <a:lnSpc>
                <a:spcPct val="103000"/>
              </a:lnSpc>
              <a:buNone/>
            </a:pPr>
            <a:r>
              <a:rPr lang="en-US" sz="1900" b="1" dirty="0">
                <a:solidFill>
                  <a:srgbClr val="13211D"/>
                </a:solidFill>
                <a:latin typeface="Cambria" pitchFamily="34" charset="0"/>
                <a:ea typeface="Cambria" pitchFamily="34" charset="-122"/>
                <a:cs typeface="Cambria" pitchFamily="34" charset="-120"/>
              </a:rPr>
              <a:t>Heavily US- and Switzerland-based. Demographics are the missing panel — Gap 4.</a:t>
            </a:r>
            <a:endParaRPr lang="en-US" sz="1900" dirty="0"/>
          </a:p>
        </p:txBody>
      </p:sp>
      <p:sp>
        <p:nvSpPr>
          <p:cNvPr id="4" name="Shape 2"/>
          <p:cNvSpPr/>
          <p:nvPr/>
        </p:nvSpPr>
        <p:spPr>
          <a:xfrm>
            <a:off x="10332720" y="502920"/>
            <a:ext cx="1371600" cy="274320"/>
          </a:xfrm>
          <a:prstGeom prst="roundRect">
            <a:avLst>
              <a:gd name="adj" fmla="val 50000"/>
            </a:avLst>
          </a:prstGeom>
          <a:solidFill>
            <a:srgbClr val="C98A16"/>
          </a:solidFill>
          <a:ln/>
        </p:spPr>
      </p:sp>
      <p:sp>
        <p:nvSpPr>
          <p:cNvPr id="5" name="Text 3"/>
          <p:cNvSpPr txBox="1"/>
          <p:nvPr/>
        </p:nvSpPr>
        <p:spPr>
          <a:xfrm>
            <a:off x="10332720" y="498348"/>
            <a:ext cx="137160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Registry + n=16</a:t>
            </a:r>
            <a:endParaRPr lang="en-US" sz="950" dirty="0"/>
          </a:p>
        </p:txBody>
      </p:sp>
      <p:pic>
        <p:nvPicPr>
          <p:cNvPr id="6" name="Image 0" descr="/Users/sps253/Documents/GIT/sypres-docs/analysis/master-db/figures/output/fig08_who_where.png">    </p:cNvPr>
          <p:cNvPicPr>
            <a:picLocks noChangeAspect="1"/>
          </p:cNvPicPr>
          <p:nvPr/>
        </p:nvPicPr>
        <p:blipFill>
          <a:blip r:embed="rId1"/>
          <a:srcRect l="0" r="0" t="0" b="0"/>
          <a:stretch/>
        </p:blipFill>
        <p:spPr>
          <a:xfrm>
            <a:off x="457200" y="1783080"/>
            <a:ext cx="11274552" cy="45262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FIGURE 10  ·  REGISTRATION &amp; REPORTING</a:t>
            </a:r>
            <a:endParaRPr lang="en-US" sz="1100" dirty="0"/>
          </a:p>
        </p:txBody>
      </p:sp>
      <p:sp>
        <p:nvSpPr>
          <p:cNvPr id="3" name="Text 1"/>
          <p:cNvSpPr txBox="1"/>
          <p:nvPr/>
        </p:nvSpPr>
        <p:spPr>
          <a:xfrm>
            <a:off x="502920" y="786384"/>
            <a:ext cx="9646920" cy="868680"/>
          </a:xfrm>
          <a:prstGeom prst="rect">
            <a:avLst/>
          </a:prstGeom>
          <a:noFill/>
          <a:ln/>
        </p:spPr>
        <p:txBody>
          <a:bodyPr wrap="square" lIns="0" tIns="0" rIns="0" bIns="0" rtlCol="0" anchor="ctr"/>
          <a:lstStyle/>
          <a:p>
            <a:pPr indent="0" marL="0">
              <a:lnSpc>
                <a:spcPct val="103000"/>
              </a:lnSpc>
              <a:buNone/>
            </a:pPr>
            <a:r>
              <a:rPr lang="en-US" sz="1900" b="1" dirty="0">
                <a:solidFill>
                  <a:srgbClr val="13211D"/>
                </a:solidFill>
                <a:latin typeface="Cambria" pitchFamily="34" charset="0"/>
                <a:ea typeface="Cambria" pitchFamily="34" charset="-122"/>
                <a:cs typeface="Cambria" pitchFamily="34" charset="-120"/>
              </a:rPr>
              <a:t>Registration arrived late, and most trials still haven't posted results.</a:t>
            </a:r>
            <a:endParaRPr lang="en-US" sz="1900" dirty="0"/>
          </a:p>
        </p:txBody>
      </p:sp>
      <p:sp>
        <p:nvSpPr>
          <p:cNvPr id="4" name="Shape 2"/>
          <p:cNvSpPr/>
          <p:nvPr/>
        </p:nvSpPr>
        <p:spPr>
          <a:xfrm>
            <a:off x="10332720" y="502920"/>
            <a:ext cx="1371600" cy="274320"/>
          </a:xfrm>
          <a:prstGeom prst="roundRect">
            <a:avLst>
              <a:gd name="adj" fmla="val 50000"/>
            </a:avLst>
          </a:prstGeom>
          <a:solidFill>
            <a:srgbClr val="0E6E63"/>
          </a:solidFill>
          <a:ln/>
        </p:spPr>
      </p:sp>
      <p:sp>
        <p:nvSpPr>
          <p:cNvPr id="5" name="Text 3"/>
          <p:cNvSpPr txBox="1"/>
          <p:nvPr/>
        </p:nvSpPr>
        <p:spPr>
          <a:xfrm>
            <a:off x="10332720" y="498348"/>
            <a:ext cx="137160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Ready</a:t>
            </a:r>
            <a:endParaRPr lang="en-US" sz="950" dirty="0"/>
          </a:p>
        </p:txBody>
      </p:sp>
      <p:pic>
        <p:nvPicPr>
          <p:cNvPr id="6" name="Image 0" descr="/Users/sps253/Documents/GIT/sypres-docs/analysis/master-db/figures/output/fig10_registration.png">    </p:cNvPr>
          <p:cNvPicPr>
            <a:picLocks noChangeAspect="1"/>
          </p:cNvPicPr>
          <p:nvPr/>
        </p:nvPicPr>
        <p:blipFill>
          <a:blip r:embed="rId1"/>
          <a:srcRect l="0" r="0" t="0" b="0"/>
          <a:stretch/>
        </p:blipFill>
        <p:spPr>
          <a:xfrm>
            <a:off x="457200" y="1783080"/>
            <a:ext cx="11274552" cy="45262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38912"/>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FIGURE 11  ·  TRIAL INTEGRITY &amp; SAFETY</a:t>
            </a:r>
            <a:endParaRPr lang="en-US" sz="1100" dirty="0"/>
          </a:p>
        </p:txBody>
      </p:sp>
      <p:sp>
        <p:nvSpPr>
          <p:cNvPr id="3" name="Text 1"/>
          <p:cNvSpPr txBox="1"/>
          <p:nvPr/>
        </p:nvSpPr>
        <p:spPr>
          <a:xfrm>
            <a:off x="502920" y="786384"/>
            <a:ext cx="9646920" cy="868680"/>
          </a:xfrm>
          <a:prstGeom prst="rect">
            <a:avLst/>
          </a:prstGeom>
          <a:noFill/>
          <a:ln/>
        </p:spPr>
        <p:txBody>
          <a:bodyPr wrap="square" lIns="0" tIns="0" rIns="0" bIns="0" rtlCol="0" anchor="ctr"/>
          <a:lstStyle/>
          <a:p>
            <a:pPr indent="0" marL="0">
              <a:lnSpc>
                <a:spcPct val="103000"/>
              </a:lnSpc>
              <a:buNone/>
            </a:pPr>
            <a:r>
              <a:rPr lang="en-US" sz="1900" b="1" dirty="0">
                <a:solidFill>
                  <a:srgbClr val="13211D"/>
                </a:solidFill>
                <a:latin typeface="Cambria" pitchFamily="34" charset="0"/>
                <a:ea typeface="Cambria" pitchFamily="34" charset="-122"/>
                <a:cs typeface="Cambria" pitchFamily="34" charset="-120"/>
              </a:rPr>
              <a:t>What these trials never check: blinding integrity, and the psychedelic-specific harms.</a:t>
            </a:r>
            <a:endParaRPr lang="en-US" sz="1900" dirty="0"/>
          </a:p>
        </p:txBody>
      </p:sp>
      <p:sp>
        <p:nvSpPr>
          <p:cNvPr id="4" name="Shape 2"/>
          <p:cNvSpPr/>
          <p:nvPr/>
        </p:nvSpPr>
        <p:spPr>
          <a:xfrm>
            <a:off x="10332720" y="502920"/>
            <a:ext cx="1371600" cy="274320"/>
          </a:xfrm>
          <a:prstGeom prst="roundRect">
            <a:avLst>
              <a:gd name="adj" fmla="val 50000"/>
            </a:avLst>
          </a:prstGeom>
          <a:solidFill>
            <a:srgbClr val="2A78D6"/>
          </a:solidFill>
          <a:ln/>
        </p:spPr>
      </p:sp>
      <p:sp>
        <p:nvSpPr>
          <p:cNvPr id="5" name="Text 3"/>
          <p:cNvSpPr txBox="1"/>
          <p:nvPr/>
        </p:nvSpPr>
        <p:spPr>
          <a:xfrm>
            <a:off x="10332720" y="498348"/>
            <a:ext cx="137160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Verified n=16</a:t>
            </a:r>
            <a:endParaRPr lang="en-US" sz="950" dirty="0"/>
          </a:p>
        </p:txBody>
      </p:sp>
      <p:pic>
        <p:nvPicPr>
          <p:cNvPr id="6" name="Image 0" descr="/Users/sps253/Documents/GIT/sypres-docs/analysis/master-db/figures/output/fig11_integrity_safety.png">    </p:cNvPr>
          <p:cNvPicPr>
            <a:picLocks noChangeAspect="1"/>
          </p:cNvPicPr>
          <p:nvPr/>
        </p:nvPicPr>
        <p:blipFill>
          <a:blip r:embed="rId1"/>
          <a:srcRect l="0" r="0" t="0" b="0"/>
          <a:stretch/>
        </p:blipFill>
        <p:spPr>
          <a:xfrm>
            <a:off x="457200" y="1783080"/>
            <a:ext cx="11274552" cy="45262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5"/>
        </a:solidFill>
      </p:bgPr>
    </p:bg>
    <p:spTree>
      <p:nvGrpSpPr>
        <p:cNvPr id="1" name=""/>
        <p:cNvGrpSpPr/>
        <p:nvPr/>
      </p:nvGrpSpPr>
      <p:grpSpPr>
        <a:xfrm>
          <a:off x="0" y="0"/>
          <a:ext cx="0" cy="0"/>
          <a:chOff x="0" y="0"/>
          <a:chExt cx="0" cy="0"/>
        </a:xfrm>
      </p:grpSpPr>
      <p:sp>
        <p:nvSpPr>
          <p:cNvPr id="2" name="Text 0"/>
          <p:cNvSpPr txBox="1"/>
          <p:nvPr/>
        </p:nvSpPr>
        <p:spPr>
          <a:xfrm>
            <a:off x="548640" y="457200"/>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ROADMAP</a:t>
            </a:r>
            <a:endParaRPr lang="en-US" sz="1100" dirty="0"/>
          </a:p>
        </p:txBody>
      </p:sp>
      <p:sp>
        <p:nvSpPr>
          <p:cNvPr id="3" name="Text 1"/>
          <p:cNvSpPr txBox="1"/>
          <p:nvPr/>
        </p:nvSpPr>
        <p:spPr>
          <a:xfrm>
            <a:off x="502920" y="749808"/>
            <a:ext cx="10972800" cy="640080"/>
          </a:xfrm>
          <a:prstGeom prst="rect">
            <a:avLst/>
          </a:prstGeom>
          <a:noFill/>
          <a:ln/>
        </p:spPr>
        <p:txBody>
          <a:bodyPr wrap="square" lIns="0" tIns="0" rIns="0" bIns="0" rtlCol="0" anchor="ctr"/>
          <a:lstStyle/>
          <a:p>
            <a:pPr indent="0" marL="0">
              <a:buNone/>
            </a:pPr>
            <a:r>
              <a:rPr lang="en-US" sz="3400" b="1" dirty="0">
                <a:solidFill>
                  <a:srgbClr val="13211D"/>
                </a:solidFill>
                <a:latin typeface="Cambria" pitchFamily="34" charset="0"/>
                <a:ea typeface="Cambria" pitchFamily="34" charset="-122"/>
                <a:cs typeface="Cambria" pitchFamily="34" charset="-120"/>
              </a:rPr>
              <a:t>Three phases to a published database</a:t>
            </a:r>
            <a:endParaRPr lang="en-US" sz="3400" dirty="0"/>
          </a:p>
        </p:txBody>
      </p:sp>
      <p:sp>
        <p:nvSpPr>
          <p:cNvPr id="4" name="Shape 2"/>
          <p:cNvSpPr/>
          <p:nvPr/>
        </p:nvSpPr>
        <p:spPr>
          <a:xfrm>
            <a:off x="502920" y="1691640"/>
            <a:ext cx="3602736" cy="4480560"/>
          </a:xfrm>
          <a:prstGeom prst="roundRect">
            <a:avLst>
              <a:gd name="adj" fmla="val 2030"/>
            </a:avLst>
          </a:prstGeom>
          <a:solidFill>
            <a:srgbClr val="FFFFFF"/>
          </a:solidFill>
          <a:ln w="12700">
            <a:solidFill>
              <a:srgbClr val="D8E0DD"/>
            </a:solidFill>
            <a:prstDash val="solid"/>
          </a:ln>
        </p:spPr>
      </p:sp>
      <p:sp>
        <p:nvSpPr>
          <p:cNvPr id="5" name="Shape 3"/>
          <p:cNvSpPr/>
          <p:nvPr/>
        </p:nvSpPr>
        <p:spPr>
          <a:xfrm>
            <a:off x="822960" y="2057400"/>
            <a:ext cx="749808" cy="749808"/>
          </a:xfrm>
          <a:prstGeom prst="ellipse">
            <a:avLst/>
          </a:prstGeom>
          <a:solidFill>
            <a:srgbClr val="0E6E63"/>
          </a:solidFill>
          <a:ln/>
        </p:spPr>
      </p:sp>
      <p:sp>
        <p:nvSpPr>
          <p:cNvPr id="6" name="Text 4"/>
          <p:cNvSpPr txBox="1"/>
          <p:nvPr/>
        </p:nvSpPr>
        <p:spPr>
          <a:xfrm>
            <a:off x="822960" y="2057400"/>
            <a:ext cx="749808" cy="74980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737360" y="2075688"/>
            <a:ext cx="2231136" cy="274320"/>
          </a:xfrm>
          <a:prstGeom prst="rect">
            <a:avLst/>
          </a:prstGeom>
          <a:noFill/>
          <a:ln/>
        </p:spPr>
        <p:txBody>
          <a:bodyPr wrap="square" lIns="0" tIns="0" rIns="0" bIns="0" rtlCol="0" anchor="ctr"/>
          <a:lstStyle/>
          <a:p>
            <a:pPr indent="0" marL="0">
              <a:buNone/>
            </a:pPr>
            <a:r>
              <a:rPr lang="en-US" sz="1050" b="1" spc="150" kern="0" dirty="0">
                <a:solidFill>
                  <a:srgbClr val="0E6E63"/>
                </a:solidFill>
                <a:latin typeface="Calibri" pitchFamily="34" charset="0"/>
                <a:ea typeface="Calibri" pitchFamily="34" charset="-122"/>
                <a:cs typeface="Calibri" pitchFamily="34" charset="-120"/>
              </a:rPr>
              <a:t>NOW</a:t>
            </a:r>
            <a:endParaRPr lang="en-US" sz="1050" dirty="0"/>
          </a:p>
        </p:txBody>
      </p:sp>
      <p:sp>
        <p:nvSpPr>
          <p:cNvPr id="8" name="Text 6"/>
          <p:cNvSpPr txBox="1"/>
          <p:nvPr/>
        </p:nvSpPr>
        <p:spPr>
          <a:xfrm>
            <a:off x="1737360" y="2350008"/>
            <a:ext cx="2231136" cy="548640"/>
          </a:xfrm>
          <a:prstGeom prst="rect">
            <a:avLst/>
          </a:prstGeom>
          <a:noFill/>
          <a:ln/>
        </p:spPr>
        <p:txBody>
          <a:bodyPr wrap="square" lIns="0" tIns="0" rIns="0" bIns="0" rtlCol="0" anchor="ctr"/>
          <a:lstStyle/>
          <a:p>
            <a:pPr indent="0" marL="0">
              <a:buNone/>
            </a:pPr>
            <a:r>
              <a:rPr lang="en-US" sz="1800" b="1" dirty="0">
                <a:solidFill>
                  <a:srgbClr val="13211D"/>
                </a:solidFill>
                <a:latin typeface="Cambria" pitchFamily="34" charset="0"/>
                <a:ea typeface="Cambria" pitchFamily="34" charset="-122"/>
                <a:cs typeface="Cambria" pitchFamily="34" charset="-120"/>
              </a:rPr>
              <a:t>Lock the template</a:t>
            </a:r>
            <a:endParaRPr lang="en-US" sz="1800" dirty="0"/>
          </a:p>
        </p:txBody>
      </p:sp>
      <p:sp>
        <p:nvSpPr>
          <p:cNvPr id="9" name="Text 7"/>
          <p:cNvSpPr txBox="1"/>
          <p:nvPr/>
        </p:nvSpPr>
        <p:spPr>
          <a:xfrm>
            <a:off x="868680" y="3246120"/>
            <a:ext cx="2916936" cy="2743200"/>
          </a:xfrm>
          <a:prstGeom prst="rect">
            <a:avLst/>
          </a:prstGeom>
          <a:noFill/>
          <a:ln/>
        </p:spPr>
        <p:txBody>
          <a:bodyPr wrap="square" lIns="0" tIns="0" rIns="0" bIns="0" rtlCol="0" anchor="ctr"/>
          <a:lstStyle/>
          <a:p>
            <a:pPr marL="165100" indent="-165100">
              <a:lnSpc>
                <a:spcPct val="108000"/>
              </a:lnSpc>
              <a:spcAft>
                <a:spcPts val="900"/>
              </a:spcAft>
              <a:buSzPct val="100000"/>
              <a:buChar char="•"/>
            </a:pPr>
            <a:r>
              <a:rPr lang="en-US" sz="1300" dirty="0">
                <a:solidFill>
                  <a:srgbClr val="51625D"/>
                </a:solidFill>
                <a:latin typeface="Calibri" pitchFamily="34" charset="0"/>
                <a:ea typeface="Calibri" pitchFamily="34" charset="-122"/>
                <a:cs typeface="Calibri" pitchFamily="34" charset="-120"/>
              </a:rPr>
              <a:t>PRISMA upstream counts entered — the funnel reconciles.</a:t>
            </a:r>
            <a:endParaRPr lang="en-US" sz="1300" dirty="0"/>
          </a:p>
          <a:p>
            <a:pPr marL="165100" indent="-165100">
              <a:lnSpc>
                <a:spcPct val="108000"/>
              </a:lnSpc>
              <a:spcAft>
                <a:spcPts val="900"/>
              </a:spcAft>
              <a:buSzPct val="100000"/>
              <a:buChar char="•"/>
            </a:pPr>
            <a:r>
              <a:rPr lang="en-US" sz="1300" dirty="0">
                <a:solidFill>
                  <a:srgbClr val="51625D"/>
                </a:solidFill>
                <a:latin typeface="Calibri" pitchFamily="34" charset="0"/>
                <a:ea typeface="Calibri" pitchFamily="34" charset="-122"/>
                <a:cs typeface="Calibri" pitchFamily="34" charset="-120"/>
              </a:rPr>
              <a:t>Decide the four extraction gaps (next slides) and add them to Covidence before extraction scales.</a:t>
            </a:r>
            <a:endParaRPr lang="en-US" sz="1300" dirty="0"/>
          </a:p>
          <a:p>
            <a:pPr marL="165100" indent="-165100">
              <a:lnSpc>
                <a:spcPct val="108000"/>
              </a:lnSpc>
              <a:spcAft>
                <a:spcPts val="900"/>
              </a:spcAft>
              <a:buSzPct val="100000"/>
              <a:buChar char="•"/>
            </a:pPr>
            <a:r>
              <a:rPr lang="en-US" sz="1300" dirty="0">
                <a:solidFill>
                  <a:srgbClr val="51625D"/>
                </a:solidFill>
                <a:latin typeface="Calibri" pitchFamily="34" charset="0"/>
                <a:ea typeface="Calibri" pitchFamily="34" charset="-122"/>
                <a:cs typeface="Calibri" pitchFamily="34" charset="-120"/>
              </a:rPr>
              <a:t>Doing it now avoids a retrospective pass over hundreds of studies.</a:t>
            </a:r>
            <a:endParaRPr lang="en-US" sz="1300" dirty="0"/>
          </a:p>
        </p:txBody>
      </p:sp>
      <p:sp>
        <p:nvSpPr>
          <p:cNvPr id="10" name="Shape 8"/>
          <p:cNvSpPr/>
          <p:nvPr/>
        </p:nvSpPr>
        <p:spPr>
          <a:xfrm>
            <a:off x="4329684" y="1691640"/>
            <a:ext cx="3602736" cy="4480560"/>
          </a:xfrm>
          <a:prstGeom prst="roundRect">
            <a:avLst>
              <a:gd name="adj" fmla="val 2030"/>
            </a:avLst>
          </a:prstGeom>
          <a:solidFill>
            <a:srgbClr val="FFFFFF"/>
          </a:solidFill>
          <a:ln w="12700">
            <a:solidFill>
              <a:srgbClr val="D8E0DD"/>
            </a:solidFill>
            <a:prstDash val="solid"/>
          </a:ln>
        </p:spPr>
      </p:sp>
      <p:sp>
        <p:nvSpPr>
          <p:cNvPr id="11" name="Shape 9"/>
          <p:cNvSpPr/>
          <p:nvPr/>
        </p:nvSpPr>
        <p:spPr>
          <a:xfrm>
            <a:off x="4649724" y="2057400"/>
            <a:ext cx="749808" cy="749808"/>
          </a:xfrm>
          <a:prstGeom prst="ellipse">
            <a:avLst/>
          </a:prstGeom>
          <a:solidFill>
            <a:srgbClr val="2A78D6"/>
          </a:solidFill>
          <a:ln/>
        </p:spPr>
      </p:sp>
      <p:sp>
        <p:nvSpPr>
          <p:cNvPr id="12" name="Text 10"/>
          <p:cNvSpPr txBox="1"/>
          <p:nvPr/>
        </p:nvSpPr>
        <p:spPr>
          <a:xfrm>
            <a:off x="4649724" y="2057400"/>
            <a:ext cx="749808" cy="74980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txBox="1"/>
          <p:nvPr/>
        </p:nvSpPr>
        <p:spPr>
          <a:xfrm>
            <a:off x="5564124" y="2075688"/>
            <a:ext cx="2231136" cy="274320"/>
          </a:xfrm>
          <a:prstGeom prst="rect">
            <a:avLst/>
          </a:prstGeom>
          <a:noFill/>
          <a:ln/>
        </p:spPr>
        <p:txBody>
          <a:bodyPr wrap="square" lIns="0" tIns="0" rIns="0" bIns="0" rtlCol="0" anchor="ctr"/>
          <a:lstStyle/>
          <a:p>
            <a:pPr indent="0" marL="0">
              <a:buNone/>
            </a:pPr>
            <a:r>
              <a:rPr lang="en-US" sz="1050" b="1" spc="150" kern="0" dirty="0">
                <a:solidFill>
                  <a:srgbClr val="2A78D6"/>
                </a:solidFill>
                <a:latin typeface="Calibri" pitchFamily="34" charset="0"/>
                <a:ea typeface="Calibri" pitchFamily="34" charset="-122"/>
                <a:cs typeface="Calibri" pitchFamily="34" charset="-120"/>
              </a:rPr>
              <a:t>DURING EXTRACTION</a:t>
            </a:r>
            <a:endParaRPr lang="en-US" sz="1050" dirty="0"/>
          </a:p>
        </p:txBody>
      </p:sp>
      <p:sp>
        <p:nvSpPr>
          <p:cNvPr id="14" name="Text 12"/>
          <p:cNvSpPr txBox="1"/>
          <p:nvPr/>
        </p:nvSpPr>
        <p:spPr>
          <a:xfrm>
            <a:off x="5564124" y="2350008"/>
            <a:ext cx="2231136" cy="548640"/>
          </a:xfrm>
          <a:prstGeom prst="rect">
            <a:avLst/>
          </a:prstGeom>
          <a:noFill/>
          <a:ln/>
        </p:spPr>
        <p:txBody>
          <a:bodyPr wrap="square" lIns="0" tIns="0" rIns="0" bIns="0" rtlCol="0" anchor="ctr"/>
          <a:lstStyle/>
          <a:p>
            <a:pPr indent="0" marL="0">
              <a:buNone/>
            </a:pPr>
            <a:r>
              <a:rPr lang="en-US" sz="1800" b="1" dirty="0">
                <a:solidFill>
                  <a:srgbClr val="13211D"/>
                </a:solidFill>
                <a:latin typeface="Cambria" pitchFamily="34" charset="0"/>
                <a:ea typeface="Cambria" pitchFamily="34" charset="-122"/>
                <a:cs typeface="Cambria" pitchFamily="34" charset="-120"/>
              </a:rPr>
              <a:t>Extract &amp; sanity-check</a:t>
            </a:r>
            <a:endParaRPr lang="en-US" sz="1800" dirty="0"/>
          </a:p>
        </p:txBody>
      </p:sp>
      <p:sp>
        <p:nvSpPr>
          <p:cNvPr id="15" name="Text 13"/>
          <p:cNvSpPr txBox="1"/>
          <p:nvPr/>
        </p:nvSpPr>
        <p:spPr>
          <a:xfrm>
            <a:off x="4695444" y="3246120"/>
            <a:ext cx="2916936" cy="2743200"/>
          </a:xfrm>
          <a:prstGeom prst="rect">
            <a:avLst/>
          </a:prstGeom>
          <a:noFill/>
          <a:ln/>
        </p:spPr>
        <p:txBody>
          <a:bodyPr wrap="square" lIns="0" tIns="0" rIns="0" bIns="0" rtlCol="0" anchor="ctr"/>
          <a:lstStyle/>
          <a:p>
            <a:pPr marL="165100" indent="-165100">
              <a:lnSpc>
                <a:spcPct val="108000"/>
              </a:lnSpc>
              <a:spcAft>
                <a:spcPts val="900"/>
              </a:spcAft>
              <a:buSzPct val="100000"/>
              <a:buChar char="•"/>
            </a:pPr>
            <a:r>
              <a:rPr lang="en-US" sz="1300" dirty="0">
                <a:solidFill>
                  <a:srgbClr val="51625D"/>
                </a:solidFill>
                <a:latin typeface="Calibri" pitchFamily="34" charset="0"/>
                <a:ea typeface="Calibri" pitchFamily="34" charset="-122"/>
                <a:cs typeface="Calibri" pitchFamily="34" charset="-120"/>
              </a:rPr>
              <a:t>Run consensus, then switch the build from single-reviewer rows to the consensus rows.</a:t>
            </a:r>
            <a:endParaRPr lang="en-US" sz="1300" dirty="0"/>
          </a:p>
          <a:p>
            <a:pPr marL="165100" indent="-165100">
              <a:lnSpc>
                <a:spcPct val="108000"/>
              </a:lnSpc>
              <a:spcAft>
                <a:spcPts val="900"/>
              </a:spcAft>
              <a:buSzPct val="100000"/>
              <a:buChar char="•"/>
            </a:pPr>
            <a:r>
              <a:rPr lang="en-US" sz="1300" dirty="0">
                <a:solidFill>
                  <a:srgbClr val="51625D"/>
                </a:solidFill>
                <a:latin typeface="Calibri" pitchFamily="34" charset="0"/>
                <a:ea typeface="Calibri" pitchFamily="34" charset="-122"/>
                <a:cs typeface="Calibri" pitchFamily="34" charset="-120"/>
              </a:rPr>
              <a:t>Rebuild the growth, gap-matrix, and outcome figures on the growing set as a running check that the schema holds.</a:t>
            </a:r>
            <a:endParaRPr lang="en-US" sz="1300" dirty="0"/>
          </a:p>
        </p:txBody>
      </p:sp>
      <p:sp>
        <p:nvSpPr>
          <p:cNvPr id="16" name="Shape 14"/>
          <p:cNvSpPr/>
          <p:nvPr/>
        </p:nvSpPr>
        <p:spPr>
          <a:xfrm>
            <a:off x="8156448" y="1691640"/>
            <a:ext cx="3602736" cy="4480560"/>
          </a:xfrm>
          <a:prstGeom prst="roundRect">
            <a:avLst>
              <a:gd name="adj" fmla="val 2030"/>
            </a:avLst>
          </a:prstGeom>
          <a:solidFill>
            <a:srgbClr val="FFFFFF"/>
          </a:solidFill>
          <a:ln w="12700">
            <a:solidFill>
              <a:srgbClr val="D8E0DD"/>
            </a:solidFill>
            <a:prstDash val="solid"/>
          </a:ln>
        </p:spPr>
      </p:sp>
      <p:sp>
        <p:nvSpPr>
          <p:cNvPr id="17" name="Shape 15"/>
          <p:cNvSpPr/>
          <p:nvPr/>
        </p:nvSpPr>
        <p:spPr>
          <a:xfrm>
            <a:off x="8476488" y="2057400"/>
            <a:ext cx="749808" cy="749808"/>
          </a:xfrm>
          <a:prstGeom prst="ellipse">
            <a:avLst/>
          </a:prstGeom>
          <a:solidFill>
            <a:srgbClr val="C98A16"/>
          </a:solidFill>
          <a:ln/>
        </p:spPr>
      </p:sp>
      <p:sp>
        <p:nvSpPr>
          <p:cNvPr id="18" name="Text 16"/>
          <p:cNvSpPr txBox="1"/>
          <p:nvPr/>
        </p:nvSpPr>
        <p:spPr>
          <a:xfrm>
            <a:off x="8476488" y="2057400"/>
            <a:ext cx="749808" cy="74980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7"/>
          <p:cNvSpPr txBox="1"/>
          <p:nvPr/>
        </p:nvSpPr>
        <p:spPr>
          <a:xfrm>
            <a:off x="9390888" y="2075688"/>
            <a:ext cx="2231136" cy="274320"/>
          </a:xfrm>
          <a:prstGeom prst="rect">
            <a:avLst/>
          </a:prstGeom>
          <a:noFill/>
          <a:ln/>
        </p:spPr>
        <p:txBody>
          <a:bodyPr wrap="square" lIns="0" tIns="0" rIns="0" bIns="0" rtlCol="0" anchor="ctr"/>
          <a:lstStyle/>
          <a:p>
            <a:pPr indent="0" marL="0">
              <a:buNone/>
            </a:pPr>
            <a:r>
              <a:rPr lang="en-US" sz="1050" b="1" spc="150" kern="0" dirty="0">
                <a:solidFill>
                  <a:srgbClr val="C98A16"/>
                </a:solidFill>
                <a:latin typeface="Calibri" pitchFamily="34" charset="0"/>
                <a:ea typeface="Calibri" pitchFamily="34" charset="-122"/>
                <a:cs typeface="Calibri" pitchFamily="34" charset="-120"/>
              </a:rPr>
              <a:t>AT COMPLETION</a:t>
            </a:r>
            <a:endParaRPr lang="en-US" sz="1050" dirty="0"/>
          </a:p>
        </p:txBody>
      </p:sp>
      <p:sp>
        <p:nvSpPr>
          <p:cNvPr id="20" name="Text 18"/>
          <p:cNvSpPr txBox="1"/>
          <p:nvPr/>
        </p:nvSpPr>
        <p:spPr>
          <a:xfrm>
            <a:off x="9390888" y="2350008"/>
            <a:ext cx="2231136" cy="548640"/>
          </a:xfrm>
          <a:prstGeom prst="rect">
            <a:avLst/>
          </a:prstGeom>
          <a:noFill/>
          <a:ln/>
        </p:spPr>
        <p:txBody>
          <a:bodyPr wrap="square" lIns="0" tIns="0" rIns="0" bIns="0" rtlCol="0" anchor="ctr"/>
          <a:lstStyle/>
          <a:p>
            <a:pPr indent="0" marL="0">
              <a:buNone/>
            </a:pPr>
            <a:r>
              <a:rPr lang="en-US" sz="1800" b="1" dirty="0">
                <a:solidFill>
                  <a:srgbClr val="13211D"/>
                </a:solidFill>
                <a:latin typeface="Cambria" pitchFamily="34" charset="0"/>
                <a:ea typeface="Cambria" pitchFamily="34" charset="-122"/>
                <a:cs typeface="Cambria" pitchFamily="34" charset="-120"/>
              </a:rPr>
              <a:t>Freeze &amp; publish</a:t>
            </a:r>
            <a:endParaRPr lang="en-US" sz="1800" dirty="0"/>
          </a:p>
        </p:txBody>
      </p:sp>
      <p:sp>
        <p:nvSpPr>
          <p:cNvPr id="21" name="Text 19"/>
          <p:cNvSpPr txBox="1"/>
          <p:nvPr/>
        </p:nvSpPr>
        <p:spPr>
          <a:xfrm>
            <a:off x="8522208" y="3246120"/>
            <a:ext cx="2916936" cy="2743200"/>
          </a:xfrm>
          <a:prstGeom prst="rect">
            <a:avLst/>
          </a:prstGeom>
          <a:noFill/>
          <a:ln/>
        </p:spPr>
        <p:txBody>
          <a:bodyPr wrap="square" lIns="0" tIns="0" rIns="0" bIns="0" rtlCol="0" anchor="ctr"/>
          <a:lstStyle/>
          <a:p>
            <a:pPr marL="165100" indent="-165100">
              <a:lnSpc>
                <a:spcPct val="108000"/>
              </a:lnSpc>
              <a:spcAft>
                <a:spcPts val="900"/>
              </a:spcAft>
              <a:buSzPct val="100000"/>
              <a:buChar char="•"/>
            </a:pPr>
            <a:r>
              <a:rPr lang="en-US" sz="1300" dirty="0">
                <a:solidFill>
                  <a:srgbClr val="51625D"/>
                </a:solidFill>
                <a:latin typeface="Calibri" pitchFamily="34" charset="0"/>
                <a:ea typeface="Calibri" pitchFamily="34" charset="-122"/>
                <a:cs typeface="Calibri" pitchFamily="34" charset="-120"/>
              </a:rPr>
              <a:t>Freeze a versioned, citable release with a Zenodo DOI.</a:t>
            </a:r>
            <a:endParaRPr lang="en-US" sz="1300" dirty="0"/>
          </a:p>
          <a:p>
            <a:pPr marL="165100" indent="-165100">
              <a:lnSpc>
                <a:spcPct val="108000"/>
              </a:lnSpc>
              <a:spcAft>
                <a:spcPts val="900"/>
              </a:spcAft>
              <a:buSzPct val="100000"/>
              <a:buChar char="•"/>
            </a:pPr>
            <a:r>
              <a:rPr lang="en-US" sz="1300" dirty="0">
                <a:solidFill>
                  <a:srgbClr val="51625D"/>
                </a:solidFill>
                <a:latin typeface="Calibri" pitchFamily="34" charset="0"/>
                <a:ea typeface="Calibri" pitchFamily="34" charset="-122"/>
                <a:cs typeface="Calibri" pitchFamily="34" charset="-120"/>
              </a:rPr>
              <a:t>Write the paper against the frozen version, so every number is reproducible from a citable artifact.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THE FOUR GAPS</a:t>
            </a:r>
            <a:endParaRPr lang="en-US" sz="1100" dirty="0"/>
          </a:p>
        </p:txBody>
      </p:sp>
      <p:sp>
        <p:nvSpPr>
          <p:cNvPr id="3" name="Text 1"/>
          <p:cNvSpPr txBox="1"/>
          <p:nvPr/>
        </p:nvSpPr>
        <p:spPr>
          <a:xfrm>
            <a:off x="502920" y="749808"/>
            <a:ext cx="11338560" cy="640080"/>
          </a:xfrm>
          <a:prstGeom prst="rect">
            <a:avLst/>
          </a:prstGeom>
          <a:noFill/>
          <a:ln/>
        </p:spPr>
        <p:txBody>
          <a:bodyPr wrap="square" lIns="0" tIns="0" rIns="0" bIns="0" rtlCol="0" anchor="ctr"/>
          <a:lstStyle/>
          <a:p>
            <a:pPr indent="0" marL="0">
              <a:buNone/>
            </a:pPr>
            <a:r>
              <a:rPr lang="en-US" sz="3100" b="1" dirty="0">
                <a:solidFill>
                  <a:srgbClr val="13211D"/>
                </a:solidFill>
                <a:latin typeface="Cambria" pitchFamily="34" charset="0"/>
                <a:ea typeface="Cambria" pitchFamily="34" charset="-122"/>
                <a:cs typeface="Cambria" pitchFamily="34" charset="-120"/>
              </a:rPr>
              <a:t>What completes the figures — and none of it is a new burden</a:t>
            </a:r>
            <a:endParaRPr lang="en-US" sz="3100" dirty="0"/>
          </a:p>
        </p:txBody>
      </p:sp>
      <p:sp>
        <p:nvSpPr>
          <p:cNvPr id="4" name="Text 2"/>
          <p:cNvSpPr txBox="1"/>
          <p:nvPr/>
        </p:nvSpPr>
        <p:spPr>
          <a:xfrm>
            <a:off x="530352" y="1417320"/>
            <a:ext cx="10789920" cy="457200"/>
          </a:xfrm>
          <a:prstGeom prst="rect">
            <a:avLst/>
          </a:prstGeom>
          <a:noFill/>
          <a:ln/>
        </p:spPr>
        <p:txBody>
          <a:bodyPr wrap="square" lIns="0" tIns="0" rIns="0" bIns="0" rtlCol="0" anchor="ctr"/>
          <a:lstStyle/>
          <a:p>
            <a:pPr indent="0" marL="0">
              <a:buNone/>
            </a:pPr>
            <a:r>
              <a:rPr lang="en-US" sz="1400" dirty="0">
                <a:solidFill>
                  <a:srgbClr val="51625D"/>
                </a:solidFill>
                <a:latin typeface="Calibri" pitchFamily="34" charset="0"/>
                <a:ea typeface="Calibri" pitchFamily="34" charset="-122"/>
                <a:cs typeface="Calibri" pitchFamily="34" charset="-120"/>
              </a:rPr>
              <a:t>A restored yes/no flag, two dropdown options, design questions asked only when there's no registry to pull from, and one optional demographic pair.</a:t>
            </a:r>
            <a:endParaRPr lang="en-US" sz="1400" dirty="0"/>
          </a:p>
        </p:txBody>
      </p:sp>
      <p:sp>
        <p:nvSpPr>
          <p:cNvPr id="5" name="Shape 3"/>
          <p:cNvSpPr/>
          <p:nvPr/>
        </p:nvSpPr>
        <p:spPr>
          <a:xfrm>
            <a:off x="502920" y="2057400"/>
            <a:ext cx="5440680" cy="2084832"/>
          </a:xfrm>
          <a:prstGeom prst="roundRect">
            <a:avLst>
              <a:gd name="adj" fmla="val 3509"/>
            </a:avLst>
          </a:prstGeom>
          <a:solidFill>
            <a:srgbClr val="EDF3F1"/>
          </a:solidFill>
          <a:ln/>
        </p:spPr>
      </p:sp>
      <p:sp>
        <p:nvSpPr>
          <p:cNvPr id="6" name="Shape 4"/>
          <p:cNvSpPr/>
          <p:nvPr/>
        </p:nvSpPr>
        <p:spPr>
          <a:xfrm>
            <a:off x="795528" y="2368296"/>
            <a:ext cx="566928" cy="566928"/>
          </a:xfrm>
          <a:prstGeom prst="ellipse">
            <a:avLst/>
          </a:prstGeom>
          <a:solidFill>
            <a:srgbClr val="0E6E63"/>
          </a:solidFill>
          <a:ln/>
        </p:spPr>
      </p:sp>
      <p:sp>
        <p:nvSpPr>
          <p:cNvPr id="7" name="Text 5"/>
          <p:cNvSpPr txBox="1"/>
          <p:nvPr/>
        </p:nvSpPr>
        <p:spPr>
          <a:xfrm>
            <a:off x="795528" y="2368296"/>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527048" y="2386584"/>
            <a:ext cx="4206240" cy="548640"/>
          </a:xfrm>
          <a:prstGeom prst="rect">
            <a:avLst/>
          </a:prstGeom>
          <a:noFill/>
          <a:ln/>
        </p:spPr>
        <p:txBody>
          <a:bodyPr wrap="square" lIns="0" tIns="0" rIns="0" bIns="0" rtlCol="0" anchor="ctr"/>
          <a:lstStyle/>
          <a:p>
            <a:pPr indent="0" marL="0">
              <a:buNone/>
            </a:pPr>
            <a:r>
              <a:rPr lang="en-US" sz="1850" b="1" dirty="0">
                <a:solidFill>
                  <a:srgbClr val="13211D"/>
                </a:solidFill>
                <a:latin typeface="Cambria" pitchFamily="34" charset="0"/>
                <a:ea typeface="Cambria" pitchFamily="34" charset="-122"/>
                <a:cs typeface="Cambria" pitchFamily="34" charset="-120"/>
              </a:rPr>
              <a:t>Microdosing flag</a:t>
            </a:r>
            <a:endParaRPr lang="en-US" sz="1850" dirty="0"/>
          </a:p>
        </p:txBody>
      </p:sp>
      <p:sp>
        <p:nvSpPr>
          <p:cNvPr id="9" name="Text 7"/>
          <p:cNvSpPr txBox="1"/>
          <p:nvPr/>
        </p:nvSpPr>
        <p:spPr>
          <a:xfrm>
            <a:off x="813816" y="3081528"/>
            <a:ext cx="4846320" cy="777240"/>
          </a:xfrm>
          <a:prstGeom prst="rect">
            <a:avLst/>
          </a:prstGeom>
          <a:noFill/>
          <a:ln/>
        </p:spPr>
        <p:txBody>
          <a:bodyPr wrap="square" lIns="0" tIns="0" rIns="0" bIns="0" rtlCol="0" anchor="ctr"/>
          <a:lstStyle/>
          <a:p>
            <a:pPr indent="0" marL="0">
              <a:lnSpc>
                <a:spcPct val="108000"/>
              </a:lnSpc>
              <a:buNone/>
            </a:pPr>
            <a:r>
              <a:rPr lang="en-US" sz="1300" dirty="0">
                <a:solidFill>
                  <a:srgbClr val="51625D"/>
                </a:solidFill>
                <a:latin typeface="Calibri" pitchFamily="34" charset="0"/>
                <a:ea typeface="Calibri" pitchFamily="34" charset="-122"/>
                <a:cs typeface="Calibri" pitchFamily="34" charset="-120"/>
              </a:rPr>
              <a:t>Separates microdose from full-dose trials — cleans up Figures 3, 5 and 6.</a:t>
            </a:r>
            <a:endParaRPr lang="en-US" sz="1300" dirty="0"/>
          </a:p>
        </p:txBody>
      </p:sp>
      <p:sp>
        <p:nvSpPr>
          <p:cNvPr id="10" name="Text 8"/>
          <p:cNvSpPr txBox="1"/>
          <p:nvPr/>
        </p:nvSpPr>
        <p:spPr>
          <a:xfrm>
            <a:off x="813816" y="3685032"/>
            <a:ext cx="640080" cy="274320"/>
          </a:xfrm>
          <a:prstGeom prst="rect">
            <a:avLst/>
          </a:prstGeom>
          <a:noFill/>
          <a:ln/>
        </p:spPr>
        <p:txBody>
          <a:bodyPr wrap="square" lIns="0" tIns="0" rIns="0" bIns="0" rtlCol="0" anchor="ctr"/>
          <a:lstStyle/>
          <a:p>
            <a:pPr indent="0" marL="0">
              <a:buNone/>
            </a:pPr>
            <a:r>
              <a:rPr lang="en-US" sz="850" b="1" spc="100" kern="0" dirty="0">
                <a:solidFill>
                  <a:srgbClr val="8A968F"/>
                </a:solidFill>
                <a:latin typeface="Calibri" pitchFamily="34" charset="0"/>
                <a:ea typeface="Calibri" pitchFamily="34" charset="-122"/>
                <a:cs typeface="Calibri" pitchFamily="34" charset="-120"/>
              </a:rPr>
              <a:t>COST</a:t>
            </a:r>
            <a:endParaRPr lang="en-US" sz="850" dirty="0"/>
          </a:p>
        </p:txBody>
      </p:sp>
      <p:sp>
        <p:nvSpPr>
          <p:cNvPr id="11" name="Shape 9"/>
          <p:cNvSpPr/>
          <p:nvPr/>
        </p:nvSpPr>
        <p:spPr>
          <a:xfrm>
            <a:off x="1435608" y="3666744"/>
            <a:ext cx="1051560" cy="274320"/>
          </a:xfrm>
          <a:prstGeom prst="roundRect">
            <a:avLst>
              <a:gd name="adj" fmla="val 50000"/>
            </a:avLst>
          </a:prstGeom>
          <a:solidFill>
            <a:srgbClr val="0E6E63"/>
          </a:solidFill>
          <a:ln/>
        </p:spPr>
      </p:sp>
      <p:sp>
        <p:nvSpPr>
          <p:cNvPr id="12" name="Text 10"/>
          <p:cNvSpPr txBox="1"/>
          <p:nvPr/>
        </p:nvSpPr>
        <p:spPr>
          <a:xfrm>
            <a:off x="1435608" y="3662172"/>
            <a:ext cx="105156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Very low</a:t>
            </a:r>
            <a:endParaRPr lang="en-US" sz="950" dirty="0"/>
          </a:p>
        </p:txBody>
      </p:sp>
      <p:sp>
        <p:nvSpPr>
          <p:cNvPr id="13" name="Text 11"/>
          <p:cNvSpPr txBox="1"/>
          <p:nvPr/>
        </p:nvSpPr>
        <p:spPr>
          <a:xfrm>
            <a:off x="2651760" y="3685032"/>
            <a:ext cx="3063240" cy="274320"/>
          </a:xfrm>
          <a:prstGeom prst="rect">
            <a:avLst/>
          </a:prstGeom>
          <a:noFill/>
          <a:ln/>
        </p:spPr>
        <p:txBody>
          <a:bodyPr wrap="square" lIns="0" tIns="0" rIns="0" bIns="0" rtlCol="0" anchor="ctr"/>
          <a:lstStyle/>
          <a:p>
            <a:pPr algn="r" indent="0" marL="0">
              <a:buNone/>
            </a:pPr>
            <a:r>
              <a:rPr lang="en-US" sz="1150" i="1" dirty="0">
                <a:solidFill>
                  <a:srgbClr val="51625D"/>
                </a:solidFill>
                <a:latin typeface="Calibri" pitchFamily="34" charset="0"/>
                <a:ea typeface="Calibri" pitchFamily="34" charset="-122"/>
                <a:cs typeface="Calibri" pitchFamily="34" charset="-120"/>
              </a:rPr>
              <a:t>Reviewer open to it</a:t>
            </a:r>
            <a:endParaRPr lang="en-US" sz="1150" dirty="0"/>
          </a:p>
        </p:txBody>
      </p:sp>
      <p:sp>
        <p:nvSpPr>
          <p:cNvPr id="14" name="Shape 12"/>
          <p:cNvSpPr/>
          <p:nvPr/>
        </p:nvSpPr>
        <p:spPr>
          <a:xfrm>
            <a:off x="6245352" y="2057400"/>
            <a:ext cx="5440680" cy="2084832"/>
          </a:xfrm>
          <a:prstGeom prst="roundRect">
            <a:avLst>
              <a:gd name="adj" fmla="val 3509"/>
            </a:avLst>
          </a:prstGeom>
          <a:solidFill>
            <a:srgbClr val="EDF3F1"/>
          </a:solidFill>
          <a:ln/>
        </p:spPr>
      </p:sp>
      <p:sp>
        <p:nvSpPr>
          <p:cNvPr id="15" name="Shape 13"/>
          <p:cNvSpPr/>
          <p:nvPr/>
        </p:nvSpPr>
        <p:spPr>
          <a:xfrm>
            <a:off x="6537960" y="2368296"/>
            <a:ext cx="566928" cy="566928"/>
          </a:xfrm>
          <a:prstGeom prst="ellipse">
            <a:avLst/>
          </a:prstGeom>
          <a:solidFill>
            <a:srgbClr val="2A78D6"/>
          </a:solidFill>
          <a:ln/>
        </p:spPr>
      </p:sp>
      <p:sp>
        <p:nvSpPr>
          <p:cNvPr id="16" name="Text 14"/>
          <p:cNvSpPr txBox="1"/>
          <p:nvPr/>
        </p:nvSpPr>
        <p:spPr>
          <a:xfrm>
            <a:off x="6537960" y="2368296"/>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7" name="Text 15"/>
          <p:cNvSpPr txBox="1"/>
          <p:nvPr/>
        </p:nvSpPr>
        <p:spPr>
          <a:xfrm>
            <a:off x="7269480" y="2386584"/>
            <a:ext cx="4206240" cy="548640"/>
          </a:xfrm>
          <a:prstGeom prst="rect">
            <a:avLst/>
          </a:prstGeom>
          <a:noFill/>
          <a:ln/>
        </p:spPr>
        <p:txBody>
          <a:bodyPr wrap="square" lIns="0" tIns="0" rIns="0" bIns="0" rtlCol="0" anchor="ctr"/>
          <a:lstStyle/>
          <a:p>
            <a:pPr indent="0" marL="0">
              <a:buNone/>
            </a:pPr>
            <a:r>
              <a:rPr lang="en-US" sz="1850" b="1" dirty="0">
                <a:solidFill>
                  <a:srgbClr val="13211D"/>
                </a:solidFill>
                <a:latin typeface="Cambria" pitchFamily="34" charset="0"/>
                <a:ea typeface="Cambria" pitchFamily="34" charset="-122"/>
                <a:cs typeface="Cambria" pitchFamily="34" charset="-120"/>
              </a:rPr>
              <a:t>“Not reported” on sample size</a:t>
            </a:r>
            <a:endParaRPr lang="en-US" sz="1850" dirty="0"/>
          </a:p>
        </p:txBody>
      </p:sp>
      <p:sp>
        <p:nvSpPr>
          <p:cNvPr id="18" name="Text 16"/>
          <p:cNvSpPr txBox="1"/>
          <p:nvPr/>
        </p:nvSpPr>
        <p:spPr>
          <a:xfrm>
            <a:off x="6556248" y="3081528"/>
            <a:ext cx="4846320" cy="777240"/>
          </a:xfrm>
          <a:prstGeom prst="rect">
            <a:avLst/>
          </a:prstGeom>
          <a:noFill/>
          <a:ln/>
        </p:spPr>
        <p:txBody>
          <a:bodyPr wrap="square" lIns="0" tIns="0" rIns="0" bIns="0" rtlCol="0" anchor="ctr"/>
          <a:lstStyle/>
          <a:p>
            <a:pPr indent="0" marL="0">
              <a:lnSpc>
                <a:spcPct val="108000"/>
              </a:lnSpc>
              <a:buNone/>
            </a:pPr>
            <a:r>
              <a:rPr lang="en-US" sz="1300" dirty="0">
                <a:solidFill>
                  <a:srgbClr val="51625D"/>
                </a:solidFill>
                <a:latin typeface="Calibri" pitchFamily="34" charset="0"/>
                <a:ea typeface="Calibri" pitchFamily="34" charset="-122"/>
                <a:cs typeface="Calibri" pitchFamily="34" charset="-120"/>
              </a:rPr>
              <a:t>Makes Figure 6's attrition panel real: a blank N stops meaning two different things.</a:t>
            </a:r>
            <a:endParaRPr lang="en-US" sz="1300" dirty="0"/>
          </a:p>
        </p:txBody>
      </p:sp>
      <p:sp>
        <p:nvSpPr>
          <p:cNvPr id="19" name="Text 17"/>
          <p:cNvSpPr txBox="1"/>
          <p:nvPr/>
        </p:nvSpPr>
        <p:spPr>
          <a:xfrm>
            <a:off x="6556248" y="3685032"/>
            <a:ext cx="640080" cy="274320"/>
          </a:xfrm>
          <a:prstGeom prst="rect">
            <a:avLst/>
          </a:prstGeom>
          <a:noFill/>
          <a:ln/>
        </p:spPr>
        <p:txBody>
          <a:bodyPr wrap="square" lIns="0" tIns="0" rIns="0" bIns="0" rtlCol="0" anchor="ctr"/>
          <a:lstStyle/>
          <a:p>
            <a:pPr indent="0" marL="0">
              <a:buNone/>
            </a:pPr>
            <a:r>
              <a:rPr lang="en-US" sz="850" b="1" spc="100" kern="0" dirty="0">
                <a:solidFill>
                  <a:srgbClr val="8A968F"/>
                </a:solidFill>
                <a:latin typeface="Calibri" pitchFamily="34" charset="0"/>
                <a:ea typeface="Calibri" pitchFamily="34" charset="-122"/>
                <a:cs typeface="Calibri" pitchFamily="34" charset="-120"/>
              </a:rPr>
              <a:t>COST</a:t>
            </a:r>
            <a:endParaRPr lang="en-US" sz="850" dirty="0"/>
          </a:p>
        </p:txBody>
      </p:sp>
      <p:sp>
        <p:nvSpPr>
          <p:cNvPr id="20" name="Shape 18"/>
          <p:cNvSpPr/>
          <p:nvPr/>
        </p:nvSpPr>
        <p:spPr>
          <a:xfrm>
            <a:off x="7178040" y="3666744"/>
            <a:ext cx="1051560" cy="274320"/>
          </a:xfrm>
          <a:prstGeom prst="roundRect">
            <a:avLst>
              <a:gd name="adj" fmla="val 50000"/>
            </a:avLst>
          </a:prstGeom>
          <a:solidFill>
            <a:srgbClr val="0E6E63"/>
          </a:solidFill>
          <a:ln/>
        </p:spPr>
      </p:sp>
      <p:sp>
        <p:nvSpPr>
          <p:cNvPr id="21" name="Text 19"/>
          <p:cNvSpPr txBox="1"/>
          <p:nvPr/>
        </p:nvSpPr>
        <p:spPr>
          <a:xfrm>
            <a:off x="7178040" y="3662172"/>
            <a:ext cx="105156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Very low</a:t>
            </a:r>
            <a:endParaRPr lang="en-US" sz="950" dirty="0"/>
          </a:p>
        </p:txBody>
      </p:sp>
      <p:sp>
        <p:nvSpPr>
          <p:cNvPr id="22" name="Text 20"/>
          <p:cNvSpPr txBox="1"/>
          <p:nvPr/>
        </p:nvSpPr>
        <p:spPr>
          <a:xfrm>
            <a:off x="8394192" y="3685032"/>
            <a:ext cx="3063240" cy="274320"/>
          </a:xfrm>
          <a:prstGeom prst="rect">
            <a:avLst/>
          </a:prstGeom>
          <a:noFill/>
          <a:ln/>
        </p:spPr>
        <p:txBody>
          <a:bodyPr wrap="square" lIns="0" tIns="0" rIns="0" bIns="0" rtlCol="0" anchor="ctr"/>
          <a:lstStyle/>
          <a:p>
            <a:pPr algn="r" indent="0" marL="0">
              <a:buNone/>
            </a:pPr>
            <a:r>
              <a:rPr lang="en-US" sz="1150" i="1" dirty="0">
                <a:solidFill>
                  <a:srgbClr val="51625D"/>
                </a:solidFill>
                <a:latin typeface="Calibri" pitchFamily="34" charset="0"/>
                <a:ea typeface="Calibri" pitchFamily="34" charset="-122"/>
                <a:cs typeface="Calibri" pitchFamily="34" charset="-120"/>
              </a:rPr>
              <a:t>Proposed</a:t>
            </a:r>
            <a:endParaRPr lang="en-US" sz="1150" dirty="0"/>
          </a:p>
        </p:txBody>
      </p:sp>
      <p:sp>
        <p:nvSpPr>
          <p:cNvPr id="23" name="Shape 21"/>
          <p:cNvSpPr/>
          <p:nvPr/>
        </p:nvSpPr>
        <p:spPr>
          <a:xfrm>
            <a:off x="502920" y="4361688"/>
            <a:ext cx="5440680" cy="2084832"/>
          </a:xfrm>
          <a:prstGeom prst="roundRect">
            <a:avLst>
              <a:gd name="adj" fmla="val 3509"/>
            </a:avLst>
          </a:prstGeom>
          <a:solidFill>
            <a:srgbClr val="EDF3F1"/>
          </a:solidFill>
          <a:ln/>
        </p:spPr>
      </p:sp>
      <p:sp>
        <p:nvSpPr>
          <p:cNvPr id="24" name="Shape 22"/>
          <p:cNvSpPr/>
          <p:nvPr/>
        </p:nvSpPr>
        <p:spPr>
          <a:xfrm>
            <a:off x="795528" y="4672584"/>
            <a:ext cx="566928" cy="566928"/>
          </a:xfrm>
          <a:prstGeom prst="ellipse">
            <a:avLst/>
          </a:prstGeom>
          <a:solidFill>
            <a:srgbClr val="C98A16"/>
          </a:solidFill>
          <a:ln/>
        </p:spPr>
      </p:sp>
      <p:sp>
        <p:nvSpPr>
          <p:cNvPr id="25" name="Text 23"/>
          <p:cNvSpPr txBox="1"/>
          <p:nvPr/>
        </p:nvSpPr>
        <p:spPr>
          <a:xfrm>
            <a:off x="795528" y="4672584"/>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6" name="Text 24"/>
          <p:cNvSpPr txBox="1"/>
          <p:nvPr/>
        </p:nvSpPr>
        <p:spPr>
          <a:xfrm>
            <a:off x="1527048" y="4690872"/>
            <a:ext cx="4206240" cy="548640"/>
          </a:xfrm>
          <a:prstGeom prst="rect">
            <a:avLst/>
          </a:prstGeom>
          <a:noFill/>
          <a:ln/>
        </p:spPr>
        <p:txBody>
          <a:bodyPr wrap="square" lIns="0" tIns="0" rIns="0" bIns="0" rtlCol="0" anchor="ctr"/>
          <a:lstStyle/>
          <a:p>
            <a:pPr indent="0" marL="0">
              <a:buNone/>
            </a:pPr>
            <a:r>
              <a:rPr lang="en-US" sz="1850" b="1" dirty="0">
                <a:solidFill>
                  <a:srgbClr val="13211D"/>
                </a:solidFill>
                <a:latin typeface="Cambria" pitchFamily="34" charset="0"/>
                <a:ea typeface="Cambria" pitchFamily="34" charset="-122"/>
                <a:cs typeface="Cambria" pitchFamily="34" charset="-120"/>
              </a:rPr>
              <a:t>Design &amp; blinding</a:t>
            </a:r>
            <a:endParaRPr lang="en-US" sz="1850" dirty="0"/>
          </a:p>
        </p:txBody>
      </p:sp>
      <p:sp>
        <p:nvSpPr>
          <p:cNvPr id="27" name="Text 25"/>
          <p:cNvSpPr txBox="1"/>
          <p:nvPr/>
        </p:nvSpPr>
        <p:spPr>
          <a:xfrm>
            <a:off x="813816" y="5385816"/>
            <a:ext cx="4846320" cy="777240"/>
          </a:xfrm>
          <a:prstGeom prst="rect">
            <a:avLst/>
          </a:prstGeom>
          <a:noFill/>
          <a:ln/>
        </p:spPr>
        <p:txBody>
          <a:bodyPr wrap="square" lIns="0" tIns="0" rIns="0" bIns="0" rtlCol="0" anchor="ctr"/>
          <a:lstStyle/>
          <a:p>
            <a:pPr indent="0" marL="0">
              <a:lnSpc>
                <a:spcPct val="108000"/>
              </a:lnSpc>
              <a:buNone/>
            </a:pPr>
            <a:r>
              <a:rPr lang="en-US" sz="1300" dirty="0">
                <a:solidFill>
                  <a:srgbClr val="51625D"/>
                </a:solidFill>
                <a:latin typeface="Calibri" pitchFamily="34" charset="0"/>
                <a:ea typeface="Calibri" pitchFamily="34" charset="-122"/>
                <a:cs typeface="Calibri" pitchFamily="34" charset="-120"/>
              </a:rPr>
              <a:t>Fills Figure 7 for the ~half of the corpus with no registry — asked only for unregistered trials.</a:t>
            </a:r>
            <a:endParaRPr lang="en-US" sz="1300" dirty="0"/>
          </a:p>
        </p:txBody>
      </p:sp>
      <p:sp>
        <p:nvSpPr>
          <p:cNvPr id="28" name="Text 26"/>
          <p:cNvSpPr txBox="1"/>
          <p:nvPr/>
        </p:nvSpPr>
        <p:spPr>
          <a:xfrm>
            <a:off x="813816" y="5989320"/>
            <a:ext cx="640080" cy="274320"/>
          </a:xfrm>
          <a:prstGeom prst="rect">
            <a:avLst/>
          </a:prstGeom>
          <a:noFill/>
          <a:ln/>
        </p:spPr>
        <p:txBody>
          <a:bodyPr wrap="square" lIns="0" tIns="0" rIns="0" bIns="0" rtlCol="0" anchor="ctr"/>
          <a:lstStyle/>
          <a:p>
            <a:pPr indent="0" marL="0">
              <a:buNone/>
            </a:pPr>
            <a:r>
              <a:rPr lang="en-US" sz="850" b="1" spc="100" kern="0" dirty="0">
                <a:solidFill>
                  <a:srgbClr val="8A968F"/>
                </a:solidFill>
                <a:latin typeface="Calibri" pitchFamily="34" charset="0"/>
                <a:ea typeface="Calibri" pitchFamily="34" charset="-122"/>
                <a:cs typeface="Calibri" pitchFamily="34" charset="-120"/>
              </a:rPr>
              <a:t>COST</a:t>
            </a:r>
            <a:endParaRPr lang="en-US" sz="850" dirty="0"/>
          </a:p>
        </p:txBody>
      </p:sp>
      <p:sp>
        <p:nvSpPr>
          <p:cNvPr id="29" name="Shape 27"/>
          <p:cNvSpPr/>
          <p:nvPr/>
        </p:nvSpPr>
        <p:spPr>
          <a:xfrm>
            <a:off x="1435608" y="5971032"/>
            <a:ext cx="1051560" cy="274320"/>
          </a:xfrm>
          <a:prstGeom prst="roundRect">
            <a:avLst>
              <a:gd name="adj" fmla="val 50000"/>
            </a:avLst>
          </a:prstGeom>
          <a:solidFill>
            <a:srgbClr val="C98A16"/>
          </a:solidFill>
          <a:ln/>
        </p:spPr>
      </p:sp>
      <p:sp>
        <p:nvSpPr>
          <p:cNvPr id="30" name="Text 28"/>
          <p:cNvSpPr txBox="1"/>
          <p:nvPr/>
        </p:nvSpPr>
        <p:spPr>
          <a:xfrm>
            <a:off x="1435608" y="5966460"/>
            <a:ext cx="105156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Low</a:t>
            </a:r>
            <a:endParaRPr lang="en-US" sz="950" dirty="0"/>
          </a:p>
        </p:txBody>
      </p:sp>
      <p:sp>
        <p:nvSpPr>
          <p:cNvPr id="31" name="Text 29"/>
          <p:cNvSpPr txBox="1"/>
          <p:nvPr/>
        </p:nvSpPr>
        <p:spPr>
          <a:xfrm>
            <a:off x="2651760" y="5989320"/>
            <a:ext cx="3063240" cy="274320"/>
          </a:xfrm>
          <a:prstGeom prst="rect">
            <a:avLst/>
          </a:prstGeom>
          <a:noFill/>
          <a:ln/>
        </p:spPr>
        <p:txBody>
          <a:bodyPr wrap="square" lIns="0" tIns="0" rIns="0" bIns="0" rtlCol="0" anchor="ctr"/>
          <a:lstStyle/>
          <a:p>
            <a:pPr algn="r" indent="0" marL="0">
              <a:buNone/>
            </a:pPr>
            <a:r>
              <a:rPr lang="en-US" sz="1150" i="1" dirty="0">
                <a:solidFill>
                  <a:srgbClr val="51625D"/>
                </a:solidFill>
                <a:latin typeface="Calibri" pitchFamily="34" charset="0"/>
                <a:ea typeface="Calibri" pitchFamily="34" charset="-122"/>
                <a:cs typeface="Calibri" pitchFamily="34" charset="-120"/>
              </a:rPr>
              <a:t>Vocabulary drafted</a:t>
            </a:r>
            <a:endParaRPr lang="en-US" sz="1150" dirty="0"/>
          </a:p>
        </p:txBody>
      </p:sp>
      <p:sp>
        <p:nvSpPr>
          <p:cNvPr id="32" name="Shape 30"/>
          <p:cNvSpPr/>
          <p:nvPr/>
        </p:nvSpPr>
        <p:spPr>
          <a:xfrm>
            <a:off x="6245352" y="4361688"/>
            <a:ext cx="5440680" cy="2084832"/>
          </a:xfrm>
          <a:prstGeom prst="roundRect">
            <a:avLst>
              <a:gd name="adj" fmla="val 3509"/>
            </a:avLst>
          </a:prstGeom>
          <a:solidFill>
            <a:srgbClr val="EDF3F1"/>
          </a:solidFill>
          <a:ln/>
        </p:spPr>
      </p:sp>
      <p:sp>
        <p:nvSpPr>
          <p:cNvPr id="33" name="Shape 31"/>
          <p:cNvSpPr/>
          <p:nvPr/>
        </p:nvSpPr>
        <p:spPr>
          <a:xfrm>
            <a:off x="6537960" y="4672584"/>
            <a:ext cx="566928" cy="566928"/>
          </a:xfrm>
          <a:prstGeom prst="ellipse">
            <a:avLst/>
          </a:prstGeom>
          <a:solidFill>
            <a:srgbClr val="C24A2E"/>
          </a:solidFill>
          <a:ln/>
        </p:spPr>
      </p:sp>
      <p:sp>
        <p:nvSpPr>
          <p:cNvPr id="34" name="Text 32"/>
          <p:cNvSpPr txBox="1"/>
          <p:nvPr/>
        </p:nvSpPr>
        <p:spPr>
          <a:xfrm>
            <a:off x="6537960" y="4672584"/>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5" name="Text 33"/>
          <p:cNvSpPr txBox="1"/>
          <p:nvPr/>
        </p:nvSpPr>
        <p:spPr>
          <a:xfrm>
            <a:off x="7269480" y="4690872"/>
            <a:ext cx="4206240" cy="548640"/>
          </a:xfrm>
          <a:prstGeom prst="rect">
            <a:avLst/>
          </a:prstGeom>
          <a:noFill/>
          <a:ln/>
        </p:spPr>
        <p:txBody>
          <a:bodyPr wrap="square" lIns="0" tIns="0" rIns="0" bIns="0" rtlCol="0" anchor="ctr"/>
          <a:lstStyle/>
          <a:p>
            <a:pPr indent="0" marL="0">
              <a:buNone/>
            </a:pPr>
            <a:r>
              <a:rPr lang="en-US" sz="1850" b="1" dirty="0">
                <a:solidFill>
                  <a:srgbClr val="13211D"/>
                </a:solidFill>
                <a:latin typeface="Cambria" pitchFamily="34" charset="0"/>
                <a:ea typeface="Cambria" pitchFamily="34" charset="-122"/>
                <a:cs typeface="Cambria" pitchFamily="34" charset="-120"/>
              </a:rPr>
              <a:t>Age &amp; % female</a:t>
            </a:r>
            <a:endParaRPr lang="en-US" sz="1850" dirty="0"/>
          </a:p>
        </p:txBody>
      </p:sp>
      <p:sp>
        <p:nvSpPr>
          <p:cNvPr id="36" name="Text 34"/>
          <p:cNvSpPr txBox="1"/>
          <p:nvPr/>
        </p:nvSpPr>
        <p:spPr>
          <a:xfrm>
            <a:off x="6556248" y="5385816"/>
            <a:ext cx="4846320" cy="777240"/>
          </a:xfrm>
          <a:prstGeom prst="rect">
            <a:avLst/>
          </a:prstGeom>
          <a:noFill/>
          <a:ln/>
        </p:spPr>
        <p:txBody>
          <a:bodyPr wrap="square" lIns="0" tIns="0" rIns="0" bIns="0" rtlCol="0" anchor="ctr"/>
          <a:lstStyle/>
          <a:p>
            <a:pPr indent="0" marL="0">
              <a:lnSpc>
                <a:spcPct val="108000"/>
              </a:lnSpc>
              <a:buNone/>
            </a:pPr>
            <a:r>
              <a:rPr lang="en-US" sz="1300" dirty="0">
                <a:solidFill>
                  <a:srgbClr val="51625D"/>
                </a:solidFill>
                <a:latin typeface="Calibri" pitchFamily="34" charset="0"/>
                <a:ea typeface="Calibri" pitchFamily="34" charset="-122"/>
                <a:cs typeface="Calibri" pitchFamily="34" charset="-120"/>
              </a:rPr>
              <a:t>Adds the demographic panel to Figure 8. Race/ethnicity stays out of scope.</a:t>
            </a:r>
            <a:endParaRPr lang="en-US" sz="1300" dirty="0"/>
          </a:p>
        </p:txBody>
      </p:sp>
      <p:sp>
        <p:nvSpPr>
          <p:cNvPr id="37" name="Text 35"/>
          <p:cNvSpPr txBox="1"/>
          <p:nvPr/>
        </p:nvSpPr>
        <p:spPr>
          <a:xfrm>
            <a:off x="6556248" y="5989320"/>
            <a:ext cx="640080" cy="274320"/>
          </a:xfrm>
          <a:prstGeom prst="rect">
            <a:avLst/>
          </a:prstGeom>
          <a:noFill/>
          <a:ln/>
        </p:spPr>
        <p:txBody>
          <a:bodyPr wrap="square" lIns="0" tIns="0" rIns="0" bIns="0" rtlCol="0" anchor="ctr"/>
          <a:lstStyle/>
          <a:p>
            <a:pPr indent="0" marL="0">
              <a:buNone/>
            </a:pPr>
            <a:r>
              <a:rPr lang="en-US" sz="850" b="1" spc="100" kern="0" dirty="0">
                <a:solidFill>
                  <a:srgbClr val="8A968F"/>
                </a:solidFill>
                <a:latin typeface="Calibri" pitchFamily="34" charset="0"/>
                <a:ea typeface="Calibri" pitchFamily="34" charset="-122"/>
                <a:cs typeface="Calibri" pitchFamily="34" charset="-120"/>
              </a:rPr>
              <a:t>COST</a:t>
            </a:r>
            <a:endParaRPr lang="en-US" sz="850" dirty="0"/>
          </a:p>
        </p:txBody>
      </p:sp>
      <p:sp>
        <p:nvSpPr>
          <p:cNvPr id="38" name="Shape 36"/>
          <p:cNvSpPr/>
          <p:nvPr/>
        </p:nvSpPr>
        <p:spPr>
          <a:xfrm>
            <a:off x="7178040" y="5971032"/>
            <a:ext cx="1051560" cy="274320"/>
          </a:xfrm>
          <a:prstGeom prst="roundRect">
            <a:avLst>
              <a:gd name="adj" fmla="val 50000"/>
            </a:avLst>
          </a:prstGeom>
          <a:solidFill>
            <a:srgbClr val="C98A16"/>
          </a:solidFill>
          <a:ln/>
        </p:spPr>
      </p:sp>
      <p:sp>
        <p:nvSpPr>
          <p:cNvPr id="39" name="Text 37"/>
          <p:cNvSpPr txBox="1"/>
          <p:nvPr/>
        </p:nvSpPr>
        <p:spPr>
          <a:xfrm>
            <a:off x="7178040" y="5966460"/>
            <a:ext cx="1051560" cy="283464"/>
          </a:xfrm>
          <a:prstGeom prst="rect">
            <a:avLst/>
          </a:prstGeom>
          <a:noFill/>
          <a:ln/>
        </p:spPr>
        <p:txBody>
          <a:bodyPr wrap="square" lIns="0" tIns="0" rIns="0" bIns="0" rtlCol="0" anchor="ctr"/>
          <a:lstStyle/>
          <a:p>
            <a:pPr algn="ctr" indent="0" marL="0">
              <a:buNone/>
            </a:pPr>
            <a:r>
              <a:rPr lang="en-US" sz="950" b="1" spc="50" kern="0" dirty="0">
                <a:solidFill>
                  <a:srgbClr val="FFFFFF"/>
                </a:solidFill>
                <a:latin typeface="Calibri" pitchFamily="34" charset="0"/>
                <a:ea typeface="Calibri" pitchFamily="34" charset="-122"/>
                <a:cs typeface="Calibri" pitchFamily="34" charset="-120"/>
              </a:rPr>
              <a:t>Low</a:t>
            </a:r>
            <a:endParaRPr lang="en-US" sz="950" dirty="0"/>
          </a:p>
        </p:txBody>
      </p:sp>
      <p:sp>
        <p:nvSpPr>
          <p:cNvPr id="40" name="Text 38"/>
          <p:cNvSpPr txBox="1"/>
          <p:nvPr/>
        </p:nvSpPr>
        <p:spPr>
          <a:xfrm>
            <a:off x="8394192" y="5989320"/>
            <a:ext cx="3063240" cy="274320"/>
          </a:xfrm>
          <a:prstGeom prst="rect">
            <a:avLst/>
          </a:prstGeom>
          <a:noFill/>
          <a:ln/>
        </p:spPr>
        <p:txBody>
          <a:bodyPr wrap="square" lIns="0" tIns="0" rIns="0" bIns="0" rtlCol="0" anchor="ctr"/>
          <a:lstStyle/>
          <a:p>
            <a:pPr algn="r" indent="0" marL="0">
              <a:buNone/>
            </a:pPr>
            <a:r>
              <a:rPr lang="en-US" sz="1150" i="1" dirty="0">
                <a:solidFill>
                  <a:srgbClr val="51625D"/>
                </a:solidFill>
                <a:latin typeface="Calibri" pitchFamily="34" charset="0"/>
                <a:ea typeface="Calibri" pitchFamily="34" charset="-122"/>
                <a:cs typeface="Calibri" pitchFamily="34" charset="-120"/>
              </a:rPr>
              <a:t>Optional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5"/>
        </a:solidFill>
      </p:bgPr>
    </p:bg>
    <p:spTree>
      <p:nvGrpSpPr>
        <p:cNvPr id="1" name=""/>
        <p:cNvGrpSpPr/>
        <p:nvPr/>
      </p:nvGrpSpPr>
      <p:grpSpPr>
        <a:xfrm>
          <a:off x="0" y="0"/>
          <a:ext cx="0" cy="0"/>
          <a:chOff x="0" y="0"/>
          <a:chExt cx="0" cy="0"/>
        </a:xfrm>
      </p:grpSpPr>
      <p:sp>
        <p:nvSpPr>
          <p:cNvPr id="2" name="Text 0"/>
          <p:cNvSpPr txBox="1"/>
          <p:nvPr/>
        </p:nvSpPr>
        <p:spPr>
          <a:xfrm>
            <a:off x="548640" y="457200"/>
            <a:ext cx="10058400" cy="274320"/>
          </a:xfrm>
          <a:prstGeom prst="rect">
            <a:avLst/>
          </a:prstGeom>
          <a:noFill/>
          <a:ln/>
        </p:spPr>
        <p:txBody>
          <a:bodyPr wrap="square" lIns="0" tIns="0" rIns="0" bIns="0" rtlCol="0" anchor="ctr"/>
          <a:lstStyle/>
          <a:p>
            <a:pPr indent="0" marL="0">
              <a:buNone/>
            </a:pPr>
            <a:r>
              <a:rPr lang="en-US" sz="1100" b="1" spc="220" kern="0" dirty="0">
                <a:solidFill>
                  <a:srgbClr val="0E6E63"/>
                </a:solidFill>
                <a:latin typeface="Calibri" pitchFamily="34" charset="0"/>
                <a:ea typeface="Calibri" pitchFamily="34" charset="-122"/>
                <a:cs typeface="Calibri" pitchFamily="34" charset="-120"/>
              </a:rPr>
              <a:t>GAPS 1 &amp; 2  ·  ADD NOW</a:t>
            </a:r>
            <a:endParaRPr lang="en-US" sz="1100" dirty="0"/>
          </a:p>
        </p:txBody>
      </p:sp>
      <p:sp>
        <p:nvSpPr>
          <p:cNvPr id="3" name="Text 1"/>
          <p:cNvSpPr txBox="1"/>
          <p:nvPr/>
        </p:nvSpPr>
        <p:spPr>
          <a:xfrm>
            <a:off x="502920" y="749808"/>
            <a:ext cx="10972800" cy="640080"/>
          </a:xfrm>
          <a:prstGeom prst="rect">
            <a:avLst/>
          </a:prstGeom>
          <a:noFill/>
          <a:ln/>
        </p:spPr>
        <p:txBody>
          <a:bodyPr wrap="square" lIns="0" tIns="0" rIns="0" bIns="0" rtlCol="0" anchor="ctr"/>
          <a:lstStyle/>
          <a:p>
            <a:pPr indent="0" marL="0">
              <a:buNone/>
            </a:pPr>
            <a:r>
              <a:rPr lang="en-US" sz="3400" b="1" dirty="0">
                <a:solidFill>
                  <a:srgbClr val="13211D"/>
                </a:solidFill>
                <a:latin typeface="Cambria" pitchFamily="34" charset="0"/>
                <a:ea typeface="Cambria" pitchFamily="34" charset="-122"/>
                <a:cs typeface="Cambria" pitchFamily="34" charset="-120"/>
              </a:rPr>
              <a:t>Two near-free additions</a:t>
            </a:r>
            <a:endParaRPr lang="en-US" sz="3400" dirty="0"/>
          </a:p>
        </p:txBody>
      </p:sp>
      <p:sp>
        <p:nvSpPr>
          <p:cNvPr id="4" name="Shape 2"/>
          <p:cNvSpPr/>
          <p:nvPr/>
        </p:nvSpPr>
        <p:spPr>
          <a:xfrm>
            <a:off x="502920" y="1600200"/>
            <a:ext cx="5440680" cy="4617720"/>
          </a:xfrm>
          <a:prstGeom prst="roundRect">
            <a:avLst>
              <a:gd name="adj" fmla="val 1584"/>
            </a:avLst>
          </a:prstGeom>
          <a:solidFill>
            <a:srgbClr val="FFFFFF"/>
          </a:solidFill>
          <a:ln w="12700">
            <a:solidFill>
              <a:srgbClr val="D8E0DD"/>
            </a:solidFill>
            <a:prstDash val="solid"/>
          </a:ln>
        </p:spPr>
      </p:sp>
      <p:sp>
        <p:nvSpPr>
          <p:cNvPr id="5" name="Shape 3"/>
          <p:cNvSpPr/>
          <p:nvPr/>
        </p:nvSpPr>
        <p:spPr>
          <a:xfrm>
            <a:off x="813816" y="1929384"/>
            <a:ext cx="603504" cy="603504"/>
          </a:xfrm>
          <a:prstGeom prst="ellipse">
            <a:avLst/>
          </a:prstGeom>
          <a:solidFill>
            <a:srgbClr val="0E6E63"/>
          </a:solidFill>
          <a:ln/>
        </p:spPr>
      </p:sp>
      <p:sp>
        <p:nvSpPr>
          <p:cNvPr id="6" name="Text 4"/>
          <p:cNvSpPr txBox="1"/>
          <p:nvPr/>
        </p:nvSpPr>
        <p:spPr>
          <a:xfrm>
            <a:off x="813816" y="1929384"/>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563624" y="1947672"/>
            <a:ext cx="4160520" cy="594360"/>
          </a:xfrm>
          <a:prstGeom prst="rect">
            <a:avLst/>
          </a:prstGeom>
          <a:noFill/>
          <a:ln/>
        </p:spPr>
        <p:txBody>
          <a:bodyPr wrap="square" lIns="0" tIns="0" rIns="0" bIns="0" rtlCol="0" anchor="ctr"/>
          <a:lstStyle/>
          <a:p>
            <a:pPr indent="0" marL="0">
              <a:buNone/>
            </a:pPr>
            <a:r>
              <a:rPr lang="en-US" sz="1900" b="1" dirty="0">
                <a:solidFill>
                  <a:srgbClr val="13211D"/>
                </a:solidFill>
                <a:latin typeface="Cambria" pitchFamily="34" charset="0"/>
                <a:ea typeface="Cambria" pitchFamily="34" charset="-122"/>
                <a:cs typeface="Cambria" pitchFamily="34" charset="-120"/>
              </a:rPr>
              <a:t>Restore the microdosing flag</a:t>
            </a:r>
            <a:endParaRPr lang="en-US" sz="1900" dirty="0"/>
          </a:p>
        </p:txBody>
      </p:sp>
      <p:sp>
        <p:nvSpPr>
          <p:cNvPr id="8" name="Text 6"/>
          <p:cNvSpPr txBox="1"/>
          <p:nvPr/>
        </p:nvSpPr>
        <p:spPr>
          <a:xfrm>
            <a:off x="832104" y="2743200"/>
            <a:ext cx="4800600" cy="1051560"/>
          </a:xfrm>
          <a:prstGeom prst="rect">
            <a:avLst/>
          </a:prstGeom>
          <a:noFill/>
          <a:ln/>
        </p:spPr>
        <p:txBody>
          <a:bodyPr wrap="square" lIns="0" tIns="0" rIns="0" bIns="0" rtlCol="0" anchor="ctr"/>
          <a:lstStyle/>
          <a:p>
            <a:pPr indent="0" marL="0">
              <a:lnSpc>
                <a:spcPct val="114000"/>
              </a:lnSpc>
              <a:buNone/>
            </a:pPr>
            <a:r>
              <a:rPr lang="en-US" sz="1350" dirty="0">
                <a:solidFill>
                  <a:srgbClr val="13211D"/>
                </a:solidFill>
                <a:latin typeface="Calibri" pitchFamily="34" charset="0"/>
                <a:ea typeface="Calibri" pitchFamily="34" charset="-122"/>
                <a:cs typeface="Calibri" pitchFamily="34" charset="-120"/>
              </a:rPr>
              <a:t>The template revision dropped the yes/no microdosing flag with no replacement — so a 15 µg and a 200 µg LSD study now sit in the same bucket.</a:t>
            </a:r>
            <a:endParaRPr lang="en-US" sz="1350" dirty="0"/>
          </a:p>
        </p:txBody>
      </p:sp>
      <p:sp>
        <p:nvSpPr>
          <p:cNvPr id="9" name="Text 7"/>
          <p:cNvSpPr txBox="1"/>
          <p:nvPr/>
        </p:nvSpPr>
        <p:spPr>
          <a:xfrm>
            <a:off x="832104" y="3840480"/>
            <a:ext cx="4800600" cy="1051560"/>
          </a:xfrm>
          <a:prstGeom prst="rect">
            <a:avLst/>
          </a:prstGeom>
          <a:noFill/>
          <a:ln/>
        </p:spPr>
        <p:txBody>
          <a:bodyPr wrap="square" lIns="0" tIns="0" rIns="0" bIns="0" rtlCol="0" anchor="ctr"/>
          <a:lstStyle/>
          <a:p>
            <a:pPr indent="0" marL="0">
              <a:lnSpc>
                <a:spcPct val="114000"/>
              </a:lnSpc>
              <a:buNone/>
            </a:pPr>
            <a:r>
              <a:rPr lang="en-US" sz="1350" dirty="0">
                <a:solidFill>
                  <a:srgbClr val="51625D"/>
                </a:solidFill>
                <a:latin typeface="Calibri" pitchFamily="34" charset="0"/>
                <a:ea typeface="Calibri" pitchFamily="34" charset="-122"/>
                <a:cs typeface="Calibri" pitchFamily="34" charset="-120"/>
              </a:rPr>
              <a:t>Dose itself is out of scope: reported too many ways (mg vs mg/kg), route-dependent, heavy to extract. A binary flag is the only way left to separate microdose from full-dose trials.</a:t>
            </a:r>
            <a:endParaRPr lang="en-US" sz="1350" dirty="0"/>
          </a:p>
        </p:txBody>
      </p:sp>
      <p:sp>
        <p:nvSpPr>
          <p:cNvPr id="10" name="Shape 8"/>
          <p:cNvSpPr/>
          <p:nvPr/>
        </p:nvSpPr>
        <p:spPr>
          <a:xfrm>
            <a:off x="813816" y="5193792"/>
            <a:ext cx="4818888" cy="777240"/>
          </a:xfrm>
          <a:prstGeom prst="roundRect">
            <a:avLst>
              <a:gd name="adj" fmla="val 7059"/>
            </a:avLst>
          </a:prstGeom>
          <a:solidFill>
            <a:srgbClr val="EDF3F1"/>
          </a:solidFill>
          <a:ln/>
        </p:spPr>
      </p:sp>
      <p:sp>
        <p:nvSpPr>
          <p:cNvPr id="11" name="Text 9"/>
          <p:cNvSpPr txBox="1"/>
          <p:nvPr/>
        </p:nvSpPr>
        <p:spPr>
          <a:xfrm>
            <a:off x="978408" y="5321808"/>
            <a:ext cx="1828800" cy="256032"/>
          </a:xfrm>
          <a:prstGeom prst="rect">
            <a:avLst/>
          </a:prstGeom>
          <a:noFill/>
          <a:ln/>
        </p:spPr>
        <p:txBody>
          <a:bodyPr wrap="square" lIns="0" tIns="0" rIns="0" bIns="0" rtlCol="0" anchor="ctr"/>
          <a:lstStyle/>
          <a:p>
            <a:pPr indent="0" marL="0">
              <a:buNone/>
            </a:pPr>
            <a:r>
              <a:rPr lang="en-US" sz="950" b="1" spc="150" kern="0" dirty="0">
                <a:solidFill>
                  <a:srgbClr val="0E6E63"/>
                </a:solidFill>
                <a:latin typeface="Calibri" pitchFamily="34" charset="0"/>
                <a:ea typeface="Calibri" pitchFamily="34" charset="-122"/>
                <a:cs typeface="Calibri" pitchFamily="34" charset="-120"/>
              </a:rPr>
              <a:t>COMPLETES</a:t>
            </a:r>
            <a:endParaRPr lang="en-US" sz="950" dirty="0"/>
          </a:p>
        </p:txBody>
      </p:sp>
      <p:sp>
        <p:nvSpPr>
          <p:cNvPr id="12" name="Text 10"/>
          <p:cNvSpPr txBox="1"/>
          <p:nvPr/>
        </p:nvSpPr>
        <p:spPr>
          <a:xfrm>
            <a:off x="978408" y="5577840"/>
            <a:ext cx="4480560" cy="457200"/>
          </a:xfrm>
          <a:prstGeom prst="rect">
            <a:avLst/>
          </a:prstGeom>
          <a:noFill/>
          <a:ln/>
        </p:spPr>
        <p:txBody>
          <a:bodyPr wrap="square" lIns="0" tIns="0" rIns="0" bIns="0" rtlCol="0" anchor="ctr"/>
          <a:lstStyle/>
          <a:p>
            <a:pPr indent="0" marL="0">
              <a:lnSpc>
                <a:spcPct val="100000"/>
              </a:lnSpc>
              <a:buNone/>
            </a:pPr>
            <a:r>
              <a:rPr lang="en-US" sz="1250" b="1" dirty="0">
                <a:solidFill>
                  <a:srgbClr val="13211D"/>
                </a:solidFill>
                <a:latin typeface="Calibri" pitchFamily="34" charset="0"/>
                <a:ea typeface="Calibri" pitchFamily="34" charset="-122"/>
                <a:cs typeface="Calibri" pitchFamily="34" charset="-120"/>
              </a:rPr>
              <a:t>The microdose / full-dose split in Figures 3, 5 and 6.</a:t>
            </a:r>
            <a:endParaRPr lang="en-US" sz="1250" dirty="0"/>
          </a:p>
        </p:txBody>
      </p:sp>
      <p:sp>
        <p:nvSpPr>
          <p:cNvPr id="13" name="Shape 11"/>
          <p:cNvSpPr/>
          <p:nvPr/>
        </p:nvSpPr>
        <p:spPr>
          <a:xfrm>
            <a:off x="6245352" y="1600200"/>
            <a:ext cx="5440680" cy="4617720"/>
          </a:xfrm>
          <a:prstGeom prst="roundRect">
            <a:avLst>
              <a:gd name="adj" fmla="val 1584"/>
            </a:avLst>
          </a:prstGeom>
          <a:solidFill>
            <a:srgbClr val="FFFFFF"/>
          </a:solidFill>
          <a:ln w="12700">
            <a:solidFill>
              <a:srgbClr val="D8E0DD"/>
            </a:solidFill>
            <a:prstDash val="solid"/>
          </a:ln>
        </p:spPr>
      </p:sp>
      <p:sp>
        <p:nvSpPr>
          <p:cNvPr id="14" name="Shape 12"/>
          <p:cNvSpPr/>
          <p:nvPr/>
        </p:nvSpPr>
        <p:spPr>
          <a:xfrm>
            <a:off x="6556248" y="1929384"/>
            <a:ext cx="603504" cy="603504"/>
          </a:xfrm>
          <a:prstGeom prst="ellipse">
            <a:avLst/>
          </a:prstGeom>
          <a:solidFill>
            <a:srgbClr val="2A78D6"/>
          </a:solidFill>
          <a:ln/>
        </p:spPr>
      </p:sp>
      <p:sp>
        <p:nvSpPr>
          <p:cNvPr id="15" name="Text 13"/>
          <p:cNvSpPr txBox="1"/>
          <p:nvPr/>
        </p:nvSpPr>
        <p:spPr>
          <a:xfrm>
            <a:off x="6556248" y="1929384"/>
            <a:ext cx="60350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4"/>
          <p:cNvSpPr txBox="1"/>
          <p:nvPr/>
        </p:nvSpPr>
        <p:spPr>
          <a:xfrm>
            <a:off x="7306056" y="1947672"/>
            <a:ext cx="4160520" cy="594360"/>
          </a:xfrm>
          <a:prstGeom prst="rect">
            <a:avLst/>
          </a:prstGeom>
          <a:noFill/>
          <a:ln/>
        </p:spPr>
        <p:txBody>
          <a:bodyPr wrap="square" lIns="0" tIns="0" rIns="0" bIns="0" rtlCol="0" anchor="ctr"/>
          <a:lstStyle/>
          <a:p>
            <a:pPr indent="0" marL="0">
              <a:buNone/>
            </a:pPr>
            <a:r>
              <a:rPr lang="en-US" sz="1900" b="1" dirty="0">
                <a:solidFill>
                  <a:srgbClr val="13211D"/>
                </a:solidFill>
                <a:latin typeface="Cambria" pitchFamily="34" charset="0"/>
                <a:ea typeface="Cambria" pitchFamily="34" charset="-122"/>
                <a:cs typeface="Cambria" pitchFamily="34" charset="-120"/>
              </a:rPr>
              <a:t>“Not reported” on both N fields</a:t>
            </a:r>
            <a:endParaRPr lang="en-US" sz="1900" dirty="0"/>
          </a:p>
        </p:txBody>
      </p:sp>
      <p:sp>
        <p:nvSpPr>
          <p:cNvPr id="17" name="Text 15"/>
          <p:cNvSpPr txBox="1"/>
          <p:nvPr/>
        </p:nvSpPr>
        <p:spPr>
          <a:xfrm>
            <a:off x="6574536" y="2743200"/>
            <a:ext cx="4800600" cy="1051560"/>
          </a:xfrm>
          <a:prstGeom prst="rect">
            <a:avLst/>
          </a:prstGeom>
          <a:noFill/>
          <a:ln/>
        </p:spPr>
        <p:txBody>
          <a:bodyPr wrap="square" lIns="0" tIns="0" rIns="0" bIns="0" rtlCol="0" anchor="ctr"/>
          <a:lstStyle/>
          <a:p>
            <a:pPr indent="0" marL="0">
              <a:lnSpc>
                <a:spcPct val="114000"/>
              </a:lnSpc>
              <a:buNone/>
            </a:pPr>
            <a:r>
              <a:rPr lang="en-US" sz="1350" dirty="0">
                <a:solidFill>
                  <a:srgbClr val="13211D"/>
                </a:solidFill>
                <a:latin typeface="Calibri" pitchFamily="34" charset="0"/>
                <a:ea typeface="Calibri" pitchFamily="34" charset="-122"/>
                <a:cs typeface="Calibri" pitchFamily="34" charset="-120"/>
              </a:rPr>
              <a:t>Older unregistered trials often give a single N and never mention dropouts — so a blank means either “no dropouts” or “not recorded.” They can't be told apart.</a:t>
            </a:r>
            <a:endParaRPr lang="en-US" sz="1350" dirty="0"/>
          </a:p>
        </p:txBody>
      </p:sp>
      <p:sp>
        <p:nvSpPr>
          <p:cNvPr id="18" name="Text 16"/>
          <p:cNvSpPr txBox="1"/>
          <p:nvPr/>
        </p:nvSpPr>
        <p:spPr>
          <a:xfrm>
            <a:off x="6574536" y="3840480"/>
            <a:ext cx="4800600" cy="1051560"/>
          </a:xfrm>
          <a:prstGeom prst="rect">
            <a:avLst/>
          </a:prstGeom>
          <a:noFill/>
          <a:ln/>
        </p:spPr>
        <p:txBody>
          <a:bodyPr wrap="square" lIns="0" tIns="0" rIns="0" bIns="0" rtlCol="0" anchor="ctr"/>
          <a:lstStyle/>
          <a:p>
            <a:pPr indent="0" marL="0">
              <a:lnSpc>
                <a:spcPct val="114000"/>
              </a:lnSpc>
              <a:buNone/>
            </a:pPr>
            <a:r>
              <a:rPr lang="en-US" sz="1350" dirty="0">
                <a:solidFill>
                  <a:srgbClr val="51625D"/>
                </a:solidFill>
                <a:latin typeface="Calibri" pitchFamily="34" charset="0"/>
                <a:ea typeface="Calibri" pitchFamily="34" charset="-122"/>
                <a:cs typeface="Calibri" pitchFamily="34" charset="-120"/>
              </a:rPr>
              <a:t>An explicit “not reported” option on both N randomized and N analyzed makes the difference recordable. N randomized is already missing on 18% of rows.</a:t>
            </a:r>
            <a:endParaRPr lang="en-US" sz="1350" dirty="0"/>
          </a:p>
        </p:txBody>
      </p:sp>
      <p:sp>
        <p:nvSpPr>
          <p:cNvPr id="19" name="Shape 17"/>
          <p:cNvSpPr/>
          <p:nvPr/>
        </p:nvSpPr>
        <p:spPr>
          <a:xfrm>
            <a:off x="6556248" y="5193792"/>
            <a:ext cx="4818888" cy="777240"/>
          </a:xfrm>
          <a:prstGeom prst="roundRect">
            <a:avLst>
              <a:gd name="adj" fmla="val 7059"/>
            </a:avLst>
          </a:prstGeom>
          <a:solidFill>
            <a:srgbClr val="EDF3F1"/>
          </a:solidFill>
          <a:ln/>
        </p:spPr>
      </p:sp>
      <p:sp>
        <p:nvSpPr>
          <p:cNvPr id="20" name="Text 18"/>
          <p:cNvSpPr txBox="1"/>
          <p:nvPr/>
        </p:nvSpPr>
        <p:spPr>
          <a:xfrm>
            <a:off x="6720840" y="5321808"/>
            <a:ext cx="1828800" cy="256032"/>
          </a:xfrm>
          <a:prstGeom prst="rect">
            <a:avLst/>
          </a:prstGeom>
          <a:noFill/>
          <a:ln/>
        </p:spPr>
        <p:txBody>
          <a:bodyPr wrap="square" lIns="0" tIns="0" rIns="0" bIns="0" rtlCol="0" anchor="ctr"/>
          <a:lstStyle/>
          <a:p>
            <a:pPr indent="0" marL="0">
              <a:buNone/>
            </a:pPr>
            <a:r>
              <a:rPr lang="en-US" sz="950" b="1" spc="150" kern="0" dirty="0">
                <a:solidFill>
                  <a:srgbClr val="2A78D6"/>
                </a:solidFill>
                <a:latin typeface="Calibri" pitchFamily="34" charset="0"/>
                <a:ea typeface="Calibri" pitchFamily="34" charset="-122"/>
                <a:cs typeface="Calibri" pitchFamily="34" charset="-120"/>
              </a:rPr>
              <a:t>COMPLETES</a:t>
            </a:r>
            <a:endParaRPr lang="en-US" sz="950" dirty="0"/>
          </a:p>
        </p:txBody>
      </p:sp>
      <p:sp>
        <p:nvSpPr>
          <p:cNvPr id="21" name="Text 19"/>
          <p:cNvSpPr txBox="1"/>
          <p:nvPr/>
        </p:nvSpPr>
        <p:spPr>
          <a:xfrm>
            <a:off x="6720840" y="5577840"/>
            <a:ext cx="4480560" cy="457200"/>
          </a:xfrm>
          <a:prstGeom prst="rect">
            <a:avLst/>
          </a:prstGeom>
          <a:noFill/>
          <a:ln/>
        </p:spPr>
        <p:txBody>
          <a:bodyPr wrap="square" lIns="0" tIns="0" rIns="0" bIns="0" rtlCol="0" anchor="ctr"/>
          <a:lstStyle/>
          <a:p>
            <a:pPr indent="0" marL="0">
              <a:lnSpc>
                <a:spcPct val="100000"/>
              </a:lnSpc>
              <a:buNone/>
            </a:pPr>
            <a:r>
              <a:rPr lang="en-US" sz="1250" b="1" dirty="0">
                <a:solidFill>
                  <a:srgbClr val="13211D"/>
                </a:solidFill>
                <a:latin typeface="Calibri" pitchFamily="34" charset="0"/>
                <a:ea typeface="Calibri" pitchFamily="34" charset="-122"/>
                <a:cs typeface="Calibri" pitchFamily="34" charset="-120"/>
              </a:rPr>
              <a:t>Figure 6's attrition panel — “undeterminable in X% of trials” becomes a finding.</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058400" cy="274320"/>
          </a:xfrm>
          <a:prstGeom prst="rect">
            <a:avLst/>
          </a:prstGeom>
          <a:noFill/>
          <a:ln/>
        </p:spPr>
        <p:txBody>
          <a:bodyPr wrap="square" lIns="0" tIns="0" rIns="0" bIns="0" rtlCol="0" anchor="ctr"/>
          <a:lstStyle/>
          <a:p>
            <a:pPr indent="0" marL="0">
              <a:buNone/>
            </a:pPr>
            <a:r>
              <a:rPr lang="en-US" sz="1100" b="1" spc="220" kern="0" dirty="0">
                <a:solidFill>
                  <a:srgbClr val="C98A16"/>
                </a:solidFill>
                <a:latin typeface="Calibri" pitchFamily="34" charset="0"/>
                <a:ea typeface="Calibri" pitchFamily="34" charset="-122"/>
                <a:cs typeface="Calibri" pitchFamily="34" charset="-120"/>
              </a:rPr>
              <a:t>GAP 3  ·  THE SUBSTANTIVE ONE</a:t>
            </a:r>
            <a:endParaRPr lang="en-US" sz="1100" dirty="0"/>
          </a:p>
        </p:txBody>
      </p:sp>
      <p:sp>
        <p:nvSpPr>
          <p:cNvPr id="3" name="Text 1"/>
          <p:cNvSpPr txBox="1"/>
          <p:nvPr/>
        </p:nvSpPr>
        <p:spPr>
          <a:xfrm>
            <a:off x="502920" y="749808"/>
            <a:ext cx="11247120" cy="640080"/>
          </a:xfrm>
          <a:prstGeom prst="rect">
            <a:avLst/>
          </a:prstGeom>
          <a:noFill/>
          <a:ln/>
        </p:spPr>
        <p:txBody>
          <a:bodyPr wrap="square" lIns="0" tIns="0" rIns="0" bIns="0" rtlCol="0" anchor="ctr"/>
          <a:lstStyle/>
          <a:p>
            <a:pPr indent="0" marL="0">
              <a:buNone/>
            </a:pPr>
            <a:r>
              <a:rPr lang="en-US" sz="3100" b="1" dirty="0">
                <a:solidFill>
                  <a:srgbClr val="13211D"/>
                </a:solidFill>
                <a:latin typeface="Cambria" pitchFamily="34" charset="0"/>
                <a:ea typeface="Cambria" pitchFamily="34" charset="-122"/>
                <a:cs typeface="Cambria" pitchFamily="34" charset="-120"/>
              </a:rPr>
              <a:t>Design &amp; blinding — for unregistered trials only</a:t>
            </a:r>
            <a:endParaRPr lang="en-US" sz="3100" dirty="0"/>
          </a:p>
        </p:txBody>
      </p:sp>
      <p:sp>
        <p:nvSpPr>
          <p:cNvPr id="4" name="Text 2"/>
          <p:cNvSpPr txBox="1"/>
          <p:nvPr/>
        </p:nvSpPr>
        <p:spPr>
          <a:xfrm>
            <a:off x="502920" y="1600200"/>
            <a:ext cx="4160520" cy="365760"/>
          </a:xfrm>
          <a:prstGeom prst="rect">
            <a:avLst/>
          </a:prstGeom>
          <a:noFill/>
          <a:ln/>
        </p:spPr>
        <p:txBody>
          <a:bodyPr wrap="square" lIns="0" tIns="0" rIns="0" bIns="0" rtlCol="0" anchor="ctr"/>
          <a:lstStyle/>
          <a:p>
            <a:pPr indent="0" marL="0">
              <a:buNone/>
            </a:pPr>
            <a:r>
              <a:rPr lang="en-US" sz="1600" b="1" dirty="0">
                <a:solidFill>
                  <a:srgbClr val="C98A16"/>
                </a:solidFill>
                <a:latin typeface="Cambria" pitchFamily="34" charset="0"/>
                <a:ea typeface="Cambria" pitchFamily="34" charset="-122"/>
                <a:cs typeface="Cambria" pitchFamily="34" charset="-120"/>
              </a:rPr>
              <a:t>Why only when there's no registry</a:t>
            </a:r>
            <a:endParaRPr lang="en-US" sz="1600" dirty="0"/>
          </a:p>
        </p:txBody>
      </p:sp>
      <p:sp>
        <p:nvSpPr>
          <p:cNvPr id="5" name="Text 3"/>
          <p:cNvSpPr txBox="1"/>
          <p:nvPr/>
        </p:nvSpPr>
        <p:spPr>
          <a:xfrm>
            <a:off x="502920" y="2011680"/>
            <a:ext cx="4160520" cy="1188720"/>
          </a:xfrm>
          <a:prstGeom prst="rect">
            <a:avLst/>
          </a:prstGeom>
          <a:noFill/>
          <a:ln/>
        </p:spPr>
        <p:txBody>
          <a:bodyPr wrap="square" lIns="0" tIns="0" rIns="0" bIns="0" rtlCol="0" anchor="ctr"/>
          <a:lstStyle/>
          <a:p>
            <a:pPr indent="0" marL="0">
              <a:lnSpc>
                <a:spcPct val="116000"/>
              </a:lnSpc>
              <a:buNone/>
            </a:pPr>
            <a:r>
              <a:rPr lang="en-US" sz="1350" dirty="0">
                <a:solidFill>
                  <a:srgbClr val="13211D"/>
                </a:solidFill>
                <a:latin typeface="Calibri" pitchFamily="34" charset="0"/>
                <a:ea typeface="Calibri" pitchFamily="34" charset="-122"/>
                <a:cs typeface="Calibri" pitchFamily="34" charset="-120"/>
              </a:rPr>
              <a:t>ClinicalTrials.gov already gives us design, masking, allocation, sponsor and country for registered trials — at 100% coverage. We never re-collect those.</a:t>
            </a:r>
            <a:endParaRPr lang="en-US" sz="1350" dirty="0"/>
          </a:p>
        </p:txBody>
      </p:sp>
      <p:sp>
        <p:nvSpPr>
          <p:cNvPr id="6" name="Text 4"/>
          <p:cNvSpPr txBox="1"/>
          <p:nvPr/>
        </p:nvSpPr>
        <p:spPr>
          <a:xfrm>
            <a:off x="502920" y="3154680"/>
            <a:ext cx="4160520" cy="1280160"/>
          </a:xfrm>
          <a:prstGeom prst="rect">
            <a:avLst/>
          </a:prstGeom>
          <a:noFill/>
          <a:ln/>
        </p:spPr>
        <p:txBody>
          <a:bodyPr wrap="square" lIns="0" tIns="0" rIns="0" bIns="0" rtlCol="0" anchor="ctr"/>
          <a:lstStyle/>
          <a:p>
            <a:pPr indent="0" marL="0">
              <a:lnSpc>
                <a:spcPct val="116000"/>
              </a:lnSpc>
              <a:buNone/>
            </a:pPr>
            <a:r>
              <a:rPr lang="en-US" sz="1350" dirty="0">
                <a:solidFill>
                  <a:srgbClr val="51625D"/>
                </a:solidFill>
                <a:latin typeface="Calibri" pitchFamily="34" charset="0"/>
                <a:ea typeface="Calibri" pitchFamily="34" charset="-122"/>
                <a:cs typeface="Calibri" pitchFamily="34" charset="-120"/>
              </a:rPr>
              <a:t>But roughly half the corpus — and the older half — is unregistered, and the registry can't describe it. This is the one place extracting design isn't duplicated effort.</a:t>
            </a:r>
            <a:endParaRPr lang="en-US" sz="1350" dirty="0"/>
          </a:p>
        </p:txBody>
      </p:sp>
      <p:sp>
        <p:nvSpPr>
          <p:cNvPr id="7" name="Shape 5"/>
          <p:cNvSpPr/>
          <p:nvPr/>
        </p:nvSpPr>
        <p:spPr>
          <a:xfrm>
            <a:off x="502920" y="4617720"/>
            <a:ext cx="4160520" cy="1554480"/>
          </a:xfrm>
          <a:prstGeom prst="roundRect">
            <a:avLst>
              <a:gd name="adj" fmla="val 4706"/>
            </a:avLst>
          </a:prstGeom>
          <a:solidFill>
            <a:srgbClr val="10201C"/>
          </a:solidFill>
          <a:ln/>
        </p:spPr>
      </p:sp>
      <p:sp>
        <p:nvSpPr>
          <p:cNvPr id="8" name="Text 6"/>
          <p:cNvSpPr txBox="1"/>
          <p:nvPr/>
        </p:nvSpPr>
        <p:spPr>
          <a:xfrm>
            <a:off x="758952" y="4800600"/>
            <a:ext cx="1828800" cy="274320"/>
          </a:xfrm>
          <a:prstGeom prst="rect">
            <a:avLst/>
          </a:prstGeom>
          <a:noFill/>
          <a:ln/>
        </p:spPr>
        <p:txBody>
          <a:bodyPr wrap="square" lIns="0" tIns="0" rIns="0" bIns="0" rtlCol="0" anchor="ctr"/>
          <a:lstStyle/>
          <a:p>
            <a:pPr indent="0" marL="0">
              <a:buNone/>
            </a:pPr>
            <a:r>
              <a:rPr lang="en-US" sz="950" b="1" spc="150" kern="0" dirty="0">
                <a:solidFill>
                  <a:srgbClr val="1BAF7A"/>
                </a:solidFill>
                <a:latin typeface="Calibri" pitchFamily="34" charset="0"/>
                <a:ea typeface="Calibri" pitchFamily="34" charset="-122"/>
                <a:cs typeface="Calibri" pitchFamily="34" charset="-120"/>
              </a:rPr>
              <a:t>Completes</a:t>
            </a:r>
            <a:endParaRPr lang="en-US" sz="950" dirty="0"/>
          </a:p>
        </p:txBody>
      </p:sp>
      <p:sp>
        <p:nvSpPr>
          <p:cNvPr id="9" name="Text 7"/>
          <p:cNvSpPr txBox="1"/>
          <p:nvPr/>
        </p:nvSpPr>
        <p:spPr>
          <a:xfrm>
            <a:off x="758952" y="5074920"/>
            <a:ext cx="3648456" cy="914400"/>
          </a:xfrm>
          <a:prstGeom prst="rect">
            <a:avLst/>
          </a:prstGeom>
          <a:noFill/>
          <a:ln/>
        </p:spPr>
        <p:txBody>
          <a:bodyPr wrap="square" lIns="0" tIns="0" rIns="0" bIns="0" rtlCol="0" anchor="ctr"/>
          <a:lstStyle/>
          <a:p>
            <a:pPr indent="0" marL="0">
              <a:lnSpc>
                <a:spcPct val="114000"/>
              </a:lnSpc>
              <a:buNone/>
            </a:pPr>
            <a:r>
              <a:rPr lang="en-US" sz="1350" dirty="0">
                <a:solidFill>
                  <a:srgbClr val="E7EFEB"/>
                </a:solidFill>
                <a:latin typeface="Calibri" pitchFamily="34" charset="0"/>
                <a:ea typeface="Calibri" pitchFamily="34" charset="-122"/>
                <a:cs typeface="Calibri" pitchFamily="34" charset="-120"/>
              </a:rPr>
              <a:t>Figure 7 across the whole corpus, not just the registered, newer half.</a:t>
            </a:r>
            <a:endParaRPr lang="en-US" sz="1350" dirty="0"/>
          </a:p>
        </p:txBody>
      </p:sp>
      <p:sp>
        <p:nvSpPr>
          <p:cNvPr id="10" name="Shape 8"/>
          <p:cNvSpPr/>
          <p:nvPr/>
        </p:nvSpPr>
        <p:spPr>
          <a:xfrm>
            <a:off x="4983480" y="1600200"/>
            <a:ext cx="6675120" cy="1783080"/>
          </a:xfrm>
          <a:prstGeom prst="roundRect">
            <a:avLst>
              <a:gd name="adj" fmla="val 4103"/>
            </a:avLst>
          </a:prstGeom>
          <a:solidFill>
            <a:srgbClr val="EDF3F1"/>
          </a:solidFill>
          <a:ln/>
        </p:spPr>
      </p:sp>
      <p:sp>
        <p:nvSpPr>
          <p:cNvPr id="11" name="Text 9"/>
          <p:cNvSpPr txBox="1"/>
          <p:nvPr/>
        </p:nvSpPr>
        <p:spPr>
          <a:xfrm>
            <a:off x="5276088" y="1783080"/>
            <a:ext cx="2743200" cy="365760"/>
          </a:xfrm>
          <a:prstGeom prst="rect">
            <a:avLst/>
          </a:prstGeom>
          <a:noFill/>
          <a:ln/>
        </p:spPr>
        <p:txBody>
          <a:bodyPr wrap="square" lIns="0" tIns="0" rIns="0" bIns="0" rtlCol="0" anchor="ctr"/>
          <a:lstStyle/>
          <a:p>
            <a:pPr indent="0" marL="0">
              <a:buNone/>
            </a:pPr>
            <a:r>
              <a:rPr lang="en-US" sz="1700" b="1" dirty="0">
                <a:solidFill>
                  <a:srgbClr val="13211D"/>
                </a:solidFill>
                <a:latin typeface="Cambria" pitchFamily="34" charset="0"/>
                <a:ea typeface="Cambria" pitchFamily="34" charset="-122"/>
                <a:cs typeface="Cambria" pitchFamily="34" charset="-120"/>
              </a:rPr>
              <a:t>Design</a:t>
            </a:r>
            <a:endParaRPr lang="en-US" sz="1700" dirty="0"/>
          </a:p>
        </p:txBody>
      </p:sp>
      <p:sp>
        <p:nvSpPr>
          <p:cNvPr id="12" name="Text 10"/>
          <p:cNvSpPr txBox="1"/>
          <p:nvPr/>
        </p:nvSpPr>
        <p:spPr>
          <a:xfrm>
            <a:off x="5276088" y="2231136"/>
            <a:ext cx="6089904" cy="365760"/>
          </a:xfrm>
          <a:prstGeom prst="rect">
            <a:avLst/>
          </a:prstGeom>
          <a:noFill/>
          <a:ln/>
        </p:spPr>
        <p:txBody>
          <a:bodyPr wrap="square" lIns="0" tIns="0" rIns="0" bIns="0" rtlCol="0" anchor="ctr"/>
          <a:lstStyle/>
          <a:p>
            <a:pPr indent="0" marL="0">
              <a:buNone/>
            </a:pPr>
            <a:r>
              <a:rPr lang="en-US" sz="1350" b="1" dirty="0">
                <a:solidFill>
                  <a:srgbClr val="0E6E63"/>
                </a:solidFill>
                <a:latin typeface="Calibri" pitchFamily="34" charset="0"/>
                <a:ea typeface="Calibri" pitchFamily="34" charset="-122"/>
                <a:cs typeface="Calibri" pitchFamily="34" charset="-120"/>
              </a:rPr>
              <a:t>parallel · crossover · factorial · quasi-randomised · other · not reported</a:t>
            </a:r>
            <a:endParaRPr lang="en-US" sz="1350" dirty="0"/>
          </a:p>
        </p:txBody>
      </p:sp>
      <p:sp>
        <p:nvSpPr>
          <p:cNvPr id="13" name="Text 11"/>
          <p:cNvSpPr txBox="1"/>
          <p:nvPr/>
        </p:nvSpPr>
        <p:spPr>
          <a:xfrm>
            <a:off x="5276088" y="2697480"/>
            <a:ext cx="6089904" cy="594360"/>
          </a:xfrm>
          <a:prstGeom prst="rect">
            <a:avLst/>
          </a:prstGeom>
          <a:noFill/>
          <a:ln/>
        </p:spPr>
        <p:txBody>
          <a:bodyPr wrap="square" lIns="0" tIns="0" rIns="0" bIns="0" rtlCol="0" anchor="ctr"/>
          <a:lstStyle/>
          <a:p>
            <a:pPr indent="0" marL="0">
              <a:lnSpc>
                <a:spcPct val="108000"/>
              </a:lnSpc>
              <a:buNone/>
            </a:pPr>
            <a:r>
              <a:rPr lang="en-US" sz="1250" i="1" dirty="0">
                <a:solidFill>
                  <a:srgbClr val="51625D"/>
                </a:solidFill>
                <a:latin typeface="Calibri" pitchFamily="34" charset="0"/>
                <a:ea typeface="Calibri" pitchFamily="34" charset="-122"/>
                <a:cs typeface="Calibri" pitchFamily="34" charset="-120"/>
              </a:rPr>
              <a:t>No “single-group”: in an RCT database it shouldn't exist — our one instance turned out to be a mislabelled crossover (the build now flags it).</a:t>
            </a:r>
            <a:endParaRPr lang="en-US" sz="1250" dirty="0"/>
          </a:p>
        </p:txBody>
      </p:sp>
      <p:sp>
        <p:nvSpPr>
          <p:cNvPr id="14" name="Shape 12"/>
          <p:cNvSpPr/>
          <p:nvPr/>
        </p:nvSpPr>
        <p:spPr>
          <a:xfrm>
            <a:off x="4983480" y="3520440"/>
            <a:ext cx="6675120" cy="2651760"/>
          </a:xfrm>
          <a:prstGeom prst="roundRect">
            <a:avLst>
              <a:gd name="adj" fmla="val 2759"/>
            </a:avLst>
          </a:prstGeom>
          <a:solidFill>
            <a:srgbClr val="EDF3F1"/>
          </a:solidFill>
          <a:ln/>
        </p:spPr>
      </p:sp>
      <p:sp>
        <p:nvSpPr>
          <p:cNvPr id="15" name="Text 13"/>
          <p:cNvSpPr txBox="1"/>
          <p:nvPr/>
        </p:nvSpPr>
        <p:spPr>
          <a:xfrm>
            <a:off x="5276088" y="3703320"/>
            <a:ext cx="6089904" cy="365760"/>
          </a:xfrm>
          <a:prstGeom prst="rect">
            <a:avLst/>
          </a:prstGeom>
          <a:noFill/>
          <a:ln/>
        </p:spPr>
        <p:txBody>
          <a:bodyPr wrap="square" lIns="0" tIns="0" rIns="0" bIns="0" rtlCol="0" anchor="ctr"/>
          <a:lstStyle/>
          <a:p>
            <a:pPr indent="0" marL="0">
              <a:buNone/>
            </a:pPr>
            <a:r>
              <a:rPr lang="en-US" sz="1700" b="1" dirty="0">
                <a:solidFill>
                  <a:srgbClr val="13211D"/>
                </a:solidFill>
                <a:latin typeface="Cambria" pitchFamily="34" charset="0"/>
                <a:ea typeface="Cambria" pitchFamily="34" charset="-122"/>
                <a:cs typeface="Cambria" pitchFamily="34" charset="-120"/>
              </a:rPr>
              <a:t>Blinding — record who was masked, not “single / double”</a:t>
            </a:r>
            <a:endParaRPr lang="en-US" sz="1700" dirty="0"/>
          </a:p>
        </p:txBody>
      </p:sp>
      <p:sp>
        <p:nvSpPr>
          <p:cNvPr id="16" name="Text 14"/>
          <p:cNvSpPr txBox="1"/>
          <p:nvPr/>
        </p:nvSpPr>
        <p:spPr>
          <a:xfrm>
            <a:off x="5276088" y="4114800"/>
            <a:ext cx="6089904" cy="365760"/>
          </a:xfrm>
          <a:prstGeom prst="rect">
            <a:avLst/>
          </a:prstGeom>
          <a:noFill/>
          <a:ln/>
        </p:spPr>
        <p:txBody>
          <a:bodyPr wrap="square" lIns="0" tIns="0" rIns="0" bIns="0" rtlCol="0" anchor="ctr"/>
          <a:lstStyle/>
          <a:p>
            <a:pPr indent="0" marL="0">
              <a:buNone/>
            </a:pPr>
            <a:r>
              <a:rPr lang="en-US" sz="1350" b="1" dirty="0">
                <a:solidFill>
                  <a:srgbClr val="2A78D6"/>
                </a:solidFill>
                <a:latin typeface="Calibri" pitchFamily="34" charset="0"/>
                <a:ea typeface="Calibri" pitchFamily="34" charset="-122"/>
                <a:cs typeface="Calibri" pitchFamily="34" charset="-120"/>
              </a:rPr>
              <a:t>participant · care provider · investigator · outcomes assessor</a:t>
            </a:r>
            <a:endParaRPr lang="en-US" sz="1350" dirty="0"/>
          </a:p>
        </p:txBody>
      </p:sp>
      <p:sp>
        <p:nvSpPr>
          <p:cNvPr id="17" name="Text 15"/>
          <p:cNvSpPr txBox="1"/>
          <p:nvPr/>
        </p:nvSpPr>
        <p:spPr>
          <a:xfrm>
            <a:off x="5276088" y="4480560"/>
            <a:ext cx="6089904" cy="320040"/>
          </a:xfrm>
          <a:prstGeom prst="rect">
            <a:avLst/>
          </a:prstGeom>
          <a:noFill/>
          <a:ln/>
        </p:spPr>
        <p:txBody>
          <a:bodyPr wrap="square" lIns="0" tIns="0" rIns="0" bIns="0" rtlCol="0" anchor="ctr"/>
          <a:lstStyle/>
          <a:p>
            <a:pPr indent="0" marL="0">
              <a:buNone/>
            </a:pPr>
            <a:r>
              <a:rPr lang="en-US" sz="1250" dirty="0">
                <a:solidFill>
                  <a:srgbClr val="51625D"/>
                </a:solidFill>
                <a:latin typeface="Calibri" pitchFamily="34" charset="0"/>
                <a:ea typeface="Calibri" pitchFamily="34" charset="-122"/>
                <a:cs typeface="Calibri" pitchFamily="34" charset="-120"/>
              </a:rPr>
              <a:t>+ open-label  ·  not reported</a:t>
            </a:r>
            <a:endParaRPr lang="en-US" sz="1250" dirty="0"/>
          </a:p>
        </p:txBody>
      </p:sp>
      <p:sp>
        <p:nvSpPr>
          <p:cNvPr id="18" name="Text 16"/>
          <p:cNvSpPr txBox="1"/>
          <p:nvPr/>
        </p:nvSpPr>
        <p:spPr>
          <a:xfrm>
            <a:off x="5294376" y="4892040"/>
            <a:ext cx="6053328" cy="1188720"/>
          </a:xfrm>
          <a:prstGeom prst="rect">
            <a:avLst/>
          </a:prstGeom>
          <a:noFill/>
          <a:ln/>
        </p:spPr>
        <p:txBody>
          <a:bodyPr wrap="square" lIns="0" tIns="0" rIns="0" bIns="0" rtlCol="0" anchor="ctr"/>
          <a:lstStyle/>
          <a:p>
            <a:pPr marL="165100" indent="-165100">
              <a:lnSpc>
                <a:spcPct val="106000"/>
              </a:lnSpc>
              <a:spcAft>
                <a:spcPts val="700"/>
              </a:spcAft>
              <a:buSzPct val="100000"/>
              <a:buChar char="•"/>
            </a:pPr>
            <a:r>
              <a:rPr lang="en-US" sz="1250" dirty="0">
                <a:solidFill>
                  <a:srgbClr val="13211D"/>
                </a:solidFill>
                <a:latin typeface="Calibri" pitchFamily="34" charset="0"/>
                <a:ea typeface="Calibri" pitchFamily="34" charset="-122"/>
                <a:cs typeface="Calibri" pitchFamily="34" charset="-120"/>
              </a:rPr>
              <a:t>Single / double / triple falls out by counting — the classic label with no information lost.</a:t>
            </a:r>
            <a:endParaRPr lang="en-US" sz="1250" dirty="0"/>
          </a:p>
          <a:p>
            <a:pPr marL="165100" indent="-165100">
              <a:lnSpc>
                <a:spcPct val="106000"/>
              </a:lnSpc>
              <a:spcAft>
                <a:spcPts val="700"/>
              </a:spcAft>
              <a:buSzPct val="100000"/>
              <a:buChar char="•"/>
            </a:pPr>
            <a:r>
              <a:rPr lang="en-US" sz="1250" dirty="0">
                <a:solidFill>
                  <a:srgbClr val="13211D"/>
                </a:solidFill>
                <a:latin typeface="Calibri" pitchFamily="34" charset="0"/>
                <a:ea typeface="Calibri" pitchFamily="34" charset="-122"/>
                <a:cs typeface="Calibri" pitchFamily="34" charset="-120"/>
              </a:rPr>
              <a:t>It's identical to the registry's own fields, so registered and unregistered trials stay comparable.</a:t>
            </a:r>
            <a:endParaRPr lang="en-US" sz="1250" dirty="0"/>
          </a:p>
          <a:p>
            <a:pPr marL="165100" indent="-165100">
              <a:lnSpc>
                <a:spcPct val="106000"/>
              </a:lnSpc>
              <a:spcAft>
                <a:spcPts val="700"/>
              </a:spcAft>
              <a:buSzPct val="100000"/>
              <a:buChar char="•"/>
            </a:pPr>
            <a:r>
              <a:rPr lang="en-US" sz="1250" dirty="0">
                <a:solidFill>
                  <a:srgbClr val="13211D"/>
                </a:solidFill>
                <a:latin typeface="Calibri" pitchFamily="34" charset="0"/>
                <a:ea typeface="Calibri" pitchFamily="34" charset="-122"/>
                <a:cs typeface="Calibri" pitchFamily="34" charset="-120"/>
              </a:rPr>
              <a:t>Captures the care provider — the session monitor, least likely to be truly blind in psychedelic-assisted therapy.</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201C"/>
        </a:solidFill>
      </p:bgPr>
    </p:bg>
    <p:spTree>
      <p:nvGrpSpPr>
        <p:cNvPr id="1" name=""/>
        <p:cNvGrpSpPr/>
        <p:nvPr/>
      </p:nvGrpSpPr>
      <p:grpSpPr>
        <a:xfrm>
          <a:off x="0" y="0"/>
          <a:ext cx="0" cy="0"/>
          <a:chOff x="0" y="0"/>
          <a:chExt cx="0" cy="0"/>
        </a:xfrm>
      </p:grpSpPr>
      <p:sp>
        <p:nvSpPr>
          <p:cNvPr id="2" name="Shape 0"/>
          <p:cNvSpPr/>
          <p:nvPr/>
        </p:nvSpPr>
        <p:spPr>
          <a:xfrm>
            <a:off x="274320" y="5577840"/>
            <a:ext cx="1097280" cy="1097280"/>
          </a:xfrm>
          <a:prstGeom prst="ellipse">
            <a:avLst/>
          </a:prstGeom>
          <a:solidFill>
            <a:srgbClr val="1B332C"/>
          </a:solidFill>
          <a:ln/>
        </p:spPr>
      </p:sp>
      <p:sp>
        <p:nvSpPr>
          <p:cNvPr id="3" name="Shape 1"/>
          <p:cNvSpPr/>
          <p:nvPr/>
        </p:nvSpPr>
        <p:spPr>
          <a:xfrm>
            <a:off x="914400" y="6309360"/>
            <a:ext cx="548640" cy="548640"/>
          </a:xfrm>
          <a:prstGeom prst="ellipse">
            <a:avLst/>
          </a:prstGeom>
          <a:solidFill>
            <a:srgbClr val="0E6E63"/>
          </a:solidFill>
          <a:ln/>
        </p:spPr>
      </p:sp>
      <p:sp>
        <p:nvSpPr>
          <p:cNvPr id="4" name="Text 2"/>
          <p:cNvSpPr txBox="1"/>
          <p:nvPr/>
        </p:nvSpPr>
        <p:spPr>
          <a:xfrm>
            <a:off x="594360" y="685800"/>
            <a:ext cx="10058400" cy="274320"/>
          </a:xfrm>
          <a:prstGeom prst="rect">
            <a:avLst/>
          </a:prstGeom>
          <a:noFill/>
          <a:ln/>
        </p:spPr>
        <p:txBody>
          <a:bodyPr wrap="square" lIns="0" tIns="0" rIns="0" bIns="0" rtlCol="0" anchor="ctr"/>
          <a:lstStyle/>
          <a:p>
            <a:pPr indent="0" marL="0">
              <a:buNone/>
            </a:pPr>
            <a:r>
              <a:rPr lang="en-US" sz="1100" b="1" spc="220" kern="0" dirty="0">
                <a:solidFill>
                  <a:srgbClr val="1BAF7A"/>
                </a:solidFill>
                <a:latin typeface="Calibri" pitchFamily="34" charset="0"/>
                <a:ea typeface="Calibri" pitchFamily="34" charset="-122"/>
                <a:cs typeface="Calibri" pitchFamily="34" charset="-120"/>
              </a:rPr>
              <a:t>THE ASK</a:t>
            </a:r>
            <a:endParaRPr lang="en-US" sz="1100" dirty="0"/>
          </a:p>
        </p:txBody>
      </p:sp>
      <p:sp>
        <p:nvSpPr>
          <p:cNvPr id="5" name="Text 3"/>
          <p:cNvSpPr txBox="1"/>
          <p:nvPr/>
        </p:nvSpPr>
        <p:spPr>
          <a:xfrm>
            <a:off x="548640" y="1005840"/>
            <a:ext cx="109728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Three decisions for the team</a:t>
            </a:r>
            <a:endParaRPr lang="en-US" sz="3600" dirty="0"/>
          </a:p>
        </p:txBody>
      </p:sp>
      <p:sp>
        <p:nvSpPr>
          <p:cNvPr id="6" name="Shape 4"/>
          <p:cNvSpPr/>
          <p:nvPr/>
        </p:nvSpPr>
        <p:spPr>
          <a:xfrm>
            <a:off x="548640" y="2057400"/>
            <a:ext cx="7680960" cy="1024128"/>
          </a:xfrm>
          <a:prstGeom prst="roundRect">
            <a:avLst>
              <a:gd name="adj" fmla="val 6250"/>
            </a:avLst>
          </a:prstGeom>
          <a:solidFill>
            <a:srgbClr val="1E3A32"/>
          </a:solidFill>
          <a:ln/>
        </p:spPr>
      </p:sp>
      <p:sp>
        <p:nvSpPr>
          <p:cNvPr id="7" name="Shape 5"/>
          <p:cNvSpPr/>
          <p:nvPr/>
        </p:nvSpPr>
        <p:spPr>
          <a:xfrm>
            <a:off x="822960" y="2468880"/>
            <a:ext cx="201168" cy="201168"/>
          </a:xfrm>
          <a:prstGeom prst="ellipse">
            <a:avLst/>
          </a:prstGeom>
          <a:solidFill>
            <a:srgbClr val="1BAF7A"/>
          </a:solidFill>
          <a:ln/>
        </p:spPr>
      </p:sp>
      <p:sp>
        <p:nvSpPr>
          <p:cNvPr id="8" name="Text 6"/>
          <p:cNvSpPr txBox="1"/>
          <p:nvPr/>
        </p:nvSpPr>
        <p:spPr>
          <a:xfrm>
            <a:off x="1234440" y="2203704"/>
            <a:ext cx="67665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Approve gaps 1 &amp; 2 now</a:t>
            </a:r>
            <a:endParaRPr lang="en-US" sz="1700" dirty="0"/>
          </a:p>
        </p:txBody>
      </p:sp>
      <p:sp>
        <p:nvSpPr>
          <p:cNvPr id="9" name="Text 7"/>
          <p:cNvSpPr txBox="1"/>
          <p:nvPr/>
        </p:nvSpPr>
        <p:spPr>
          <a:xfrm>
            <a:off x="1234440" y="2560320"/>
            <a:ext cx="6858000" cy="457200"/>
          </a:xfrm>
          <a:prstGeom prst="rect">
            <a:avLst/>
          </a:prstGeom>
          <a:noFill/>
          <a:ln/>
        </p:spPr>
        <p:txBody>
          <a:bodyPr wrap="square" lIns="0" tIns="0" rIns="0" bIns="0" rtlCol="0" anchor="ctr"/>
          <a:lstStyle/>
          <a:p>
            <a:pPr indent="0" marL="0">
              <a:lnSpc>
                <a:spcPct val="105000"/>
              </a:lnSpc>
              <a:buNone/>
            </a:pPr>
            <a:r>
              <a:rPr lang="en-US" sz="1250" dirty="0">
                <a:solidFill>
                  <a:srgbClr val="9DB0A9"/>
                </a:solidFill>
                <a:latin typeface="Calibri" pitchFamily="34" charset="0"/>
                <a:ea typeface="Calibri" pitchFamily="34" charset="-122"/>
                <a:cs typeface="Calibri" pitchFamily="34" charset="-120"/>
              </a:rPr>
              <a:t>Restore the microdosing flag and add “not reported” to both N fields. Near-free, and each completes a figure.</a:t>
            </a:r>
            <a:endParaRPr lang="en-US" sz="1250" dirty="0"/>
          </a:p>
        </p:txBody>
      </p:sp>
      <p:sp>
        <p:nvSpPr>
          <p:cNvPr id="10" name="Shape 8"/>
          <p:cNvSpPr/>
          <p:nvPr/>
        </p:nvSpPr>
        <p:spPr>
          <a:xfrm>
            <a:off x="548640" y="3282696"/>
            <a:ext cx="7680960" cy="1024128"/>
          </a:xfrm>
          <a:prstGeom prst="roundRect">
            <a:avLst>
              <a:gd name="adj" fmla="val 6250"/>
            </a:avLst>
          </a:prstGeom>
          <a:solidFill>
            <a:srgbClr val="1E3A32"/>
          </a:solidFill>
          <a:ln/>
        </p:spPr>
      </p:sp>
      <p:sp>
        <p:nvSpPr>
          <p:cNvPr id="11" name="Shape 9"/>
          <p:cNvSpPr/>
          <p:nvPr/>
        </p:nvSpPr>
        <p:spPr>
          <a:xfrm>
            <a:off x="822960" y="3694176"/>
            <a:ext cx="201168" cy="201168"/>
          </a:xfrm>
          <a:prstGeom prst="ellipse">
            <a:avLst/>
          </a:prstGeom>
          <a:solidFill>
            <a:srgbClr val="2A78D6"/>
          </a:solidFill>
          <a:ln/>
        </p:spPr>
      </p:sp>
      <p:sp>
        <p:nvSpPr>
          <p:cNvPr id="12" name="Text 10"/>
          <p:cNvSpPr txBox="1"/>
          <p:nvPr/>
        </p:nvSpPr>
        <p:spPr>
          <a:xfrm>
            <a:off x="1234440" y="3429000"/>
            <a:ext cx="67665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Approve the design / blinding vocabulary</a:t>
            </a:r>
            <a:endParaRPr lang="en-US" sz="1700" dirty="0"/>
          </a:p>
        </p:txBody>
      </p:sp>
      <p:sp>
        <p:nvSpPr>
          <p:cNvPr id="13" name="Text 11"/>
          <p:cNvSpPr txBox="1"/>
          <p:nvPr/>
        </p:nvSpPr>
        <p:spPr>
          <a:xfrm>
            <a:off x="1234440" y="3785616"/>
            <a:ext cx="6858000" cy="457200"/>
          </a:xfrm>
          <a:prstGeom prst="rect">
            <a:avLst/>
          </a:prstGeom>
          <a:noFill/>
          <a:ln/>
        </p:spPr>
        <p:txBody>
          <a:bodyPr wrap="square" lIns="0" tIns="0" rIns="0" bIns="0" rtlCol="0" anchor="ctr"/>
          <a:lstStyle/>
          <a:p>
            <a:pPr indent="0" marL="0">
              <a:lnSpc>
                <a:spcPct val="105000"/>
              </a:lnSpc>
              <a:buNone/>
            </a:pPr>
            <a:r>
              <a:rPr lang="en-US" sz="1250" dirty="0">
                <a:solidFill>
                  <a:srgbClr val="9DB0A9"/>
                </a:solidFill>
                <a:latin typeface="Calibri" pitchFamily="34" charset="0"/>
                <a:ea typeface="Calibri" pitchFamily="34" charset="-122"/>
                <a:cs typeface="Calibri" pitchFamily="34" charset="-120"/>
              </a:rPr>
              <a:t>For unregistered trials only. Record who was masked; keep the design list as drafted.</a:t>
            </a:r>
            <a:endParaRPr lang="en-US" sz="1250" dirty="0"/>
          </a:p>
        </p:txBody>
      </p:sp>
      <p:sp>
        <p:nvSpPr>
          <p:cNvPr id="14" name="Shape 12"/>
          <p:cNvSpPr/>
          <p:nvPr/>
        </p:nvSpPr>
        <p:spPr>
          <a:xfrm>
            <a:off x="548640" y="4507992"/>
            <a:ext cx="7680960" cy="1024128"/>
          </a:xfrm>
          <a:prstGeom prst="roundRect">
            <a:avLst>
              <a:gd name="adj" fmla="val 6250"/>
            </a:avLst>
          </a:prstGeom>
          <a:solidFill>
            <a:srgbClr val="1E3A32"/>
          </a:solidFill>
          <a:ln/>
        </p:spPr>
      </p:sp>
      <p:sp>
        <p:nvSpPr>
          <p:cNvPr id="15" name="Shape 13"/>
          <p:cNvSpPr/>
          <p:nvPr/>
        </p:nvSpPr>
        <p:spPr>
          <a:xfrm>
            <a:off x="822960" y="4919472"/>
            <a:ext cx="201168" cy="201168"/>
          </a:xfrm>
          <a:prstGeom prst="ellipse">
            <a:avLst/>
          </a:prstGeom>
          <a:solidFill>
            <a:srgbClr val="C98A16"/>
          </a:solidFill>
          <a:ln/>
        </p:spPr>
      </p:sp>
      <p:sp>
        <p:nvSpPr>
          <p:cNvPr id="16" name="Text 14"/>
          <p:cNvSpPr txBox="1"/>
          <p:nvPr/>
        </p:nvSpPr>
        <p:spPr>
          <a:xfrm>
            <a:off x="1234440" y="4654296"/>
            <a:ext cx="67665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Decide on gap 4 (optional)</a:t>
            </a:r>
            <a:endParaRPr lang="en-US" sz="1700" dirty="0"/>
          </a:p>
        </p:txBody>
      </p:sp>
      <p:sp>
        <p:nvSpPr>
          <p:cNvPr id="17" name="Text 15"/>
          <p:cNvSpPr txBox="1"/>
          <p:nvPr/>
        </p:nvSpPr>
        <p:spPr>
          <a:xfrm>
            <a:off x="1234440" y="5010912"/>
            <a:ext cx="6858000" cy="457200"/>
          </a:xfrm>
          <a:prstGeom prst="rect">
            <a:avLst/>
          </a:prstGeom>
          <a:noFill/>
          <a:ln/>
        </p:spPr>
        <p:txBody>
          <a:bodyPr wrap="square" lIns="0" tIns="0" rIns="0" bIns="0" rtlCol="0" anchor="ctr"/>
          <a:lstStyle/>
          <a:p>
            <a:pPr indent="0" marL="0">
              <a:lnSpc>
                <a:spcPct val="105000"/>
              </a:lnSpc>
              <a:buNone/>
            </a:pPr>
            <a:r>
              <a:rPr lang="en-US" sz="1250" dirty="0">
                <a:solidFill>
                  <a:srgbClr val="9DB0A9"/>
                </a:solidFill>
                <a:latin typeface="Calibri" pitchFamily="34" charset="0"/>
                <a:ea typeface="Calibri" pitchFamily="34" charset="-122"/>
                <a:cs typeface="Calibri" pitchFamily="34" charset="-120"/>
              </a:rPr>
              <a:t>Age and % female for Figure 8's demographic panel — worth it, or leave for later? Race/ethnicity stays out.</a:t>
            </a:r>
            <a:endParaRPr lang="en-US" sz="1250" dirty="0"/>
          </a:p>
        </p:txBody>
      </p:sp>
      <p:sp>
        <p:nvSpPr>
          <p:cNvPr id="18" name="Shape 16"/>
          <p:cNvSpPr/>
          <p:nvPr/>
        </p:nvSpPr>
        <p:spPr>
          <a:xfrm>
            <a:off x="8549640" y="2057400"/>
            <a:ext cx="3108960" cy="3657600"/>
          </a:xfrm>
          <a:prstGeom prst="roundRect">
            <a:avLst>
              <a:gd name="adj" fmla="val 2647"/>
            </a:avLst>
          </a:prstGeom>
          <a:solidFill>
            <a:srgbClr val="0E6E63"/>
          </a:solidFill>
          <a:ln/>
        </p:spPr>
      </p:sp>
      <p:sp>
        <p:nvSpPr>
          <p:cNvPr id="19" name="Text 17"/>
          <p:cNvSpPr txBox="1"/>
          <p:nvPr/>
        </p:nvSpPr>
        <p:spPr>
          <a:xfrm>
            <a:off x="8823960" y="2286000"/>
            <a:ext cx="2560320" cy="365760"/>
          </a:xfrm>
          <a:prstGeom prst="rect">
            <a:avLst/>
          </a:prstGeom>
          <a:noFill/>
          <a:ln/>
        </p:spPr>
        <p:txBody>
          <a:bodyPr wrap="square" lIns="0" tIns="0" rIns="0" bIns="0" rtlCol="0" anchor="ctr"/>
          <a:lstStyle/>
          <a:p>
            <a:pPr indent="0" marL="0">
              <a:buNone/>
            </a:pPr>
            <a:r>
              <a:rPr lang="en-US" sz="1100" b="1" spc="150" kern="0" dirty="0">
                <a:solidFill>
                  <a:srgbClr val="FFFFFF"/>
                </a:solidFill>
                <a:latin typeface="Calibri" pitchFamily="34" charset="0"/>
                <a:ea typeface="Calibri" pitchFamily="34" charset="-122"/>
                <a:cs typeface="Calibri" pitchFamily="34" charset="-120"/>
              </a:rPr>
              <a:t>Why now</a:t>
            </a:r>
            <a:endParaRPr lang="en-US" sz="1100" dirty="0"/>
          </a:p>
        </p:txBody>
      </p:sp>
      <p:sp>
        <p:nvSpPr>
          <p:cNvPr id="20" name="Text 18"/>
          <p:cNvSpPr txBox="1"/>
          <p:nvPr/>
        </p:nvSpPr>
        <p:spPr>
          <a:xfrm>
            <a:off x="8823960" y="2697480"/>
            <a:ext cx="2606040" cy="914400"/>
          </a:xfrm>
          <a:prstGeom prst="rect">
            <a:avLst/>
          </a:prstGeom>
          <a:noFill/>
          <a:ln/>
        </p:spPr>
        <p:txBody>
          <a:bodyPr wrap="square" lIns="0" tIns="0" rIns="0" bIns="0" rtlCol="0" anchor="ctr"/>
          <a:lstStyle/>
          <a:p>
            <a:pPr indent="0" marL="0">
              <a:lnSpc>
                <a:spcPct val="102000"/>
              </a:lnSpc>
              <a:buNone/>
            </a:pPr>
            <a:r>
              <a:rPr lang="en-US" sz="2100" b="1" dirty="0">
                <a:solidFill>
                  <a:srgbClr val="FFFFFF"/>
                </a:solidFill>
                <a:latin typeface="Cambria" pitchFamily="34" charset="0"/>
                <a:ea typeface="Cambria" pitchFamily="34" charset="-122"/>
                <a:cs typeface="Cambria" pitchFamily="34" charset="-120"/>
              </a:rPr>
              <a:t>Add these before bulk extraction.</a:t>
            </a:r>
            <a:endParaRPr lang="en-US" sz="2100" dirty="0"/>
          </a:p>
        </p:txBody>
      </p:sp>
      <p:sp>
        <p:nvSpPr>
          <p:cNvPr id="21" name="Text 19"/>
          <p:cNvSpPr txBox="1"/>
          <p:nvPr/>
        </p:nvSpPr>
        <p:spPr>
          <a:xfrm>
            <a:off x="8823960" y="3886200"/>
            <a:ext cx="2606040" cy="1645920"/>
          </a:xfrm>
          <a:prstGeom prst="rect">
            <a:avLst/>
          </a:prstGeom>
          <a:noFill/>
          <a:ln/>
        </p:spPr>
        <p:txBody>
          <a:bodyPr wrap="square" lIns="0" tIns="0" rIns="0" bIns="0" rtlCol="0" anchor="ctr"/>
          <a:lstStyle/>
          <a:p>
            <a:pPr indent="0" marL="0">
              <a:lnSpc>
                <a:spcPct val="118000"/>
              </a:lnSpc>
              <a:buNone/>
            </a:pPr>
            <a:r>
              <a:rPr lang="en-US" sz="1350" dirty="0">
                <a:solidFill>
                  <a:srgbClr val="E4F1EC"/>
                </a:solidFill>
                <a:latin typeface="Calibri" pitchFamily="34" charset="0"/>
                <a:ea typeface="Calibri" pitchFamily="34" charset="-122"/>
                <a:cs typeface="Calibri" pitchFamily="34" charset="-120"/>
              </a:rPr>
              <a:t>Locked in now, they cost a dropdown edit. Added later, they need a retrospective pass over hundreds of studies.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2026-08-26T19:11:49Z</dcterms:created>
  <dcterms:modified xsi:type="dcterms:W3CDTF">2026-08-26T19:11:49Z</dcterms:modified>
</cp:coreProperties>
</file>